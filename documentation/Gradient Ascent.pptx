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
  </p:notesMasterIdLst>
  <p:sldIdLst>
    <p:sldId id="256" r:id="rId2"/>
    <p:sldId id="549" r:id="rId3"/>
    <p:sldId id="323" r:id="rId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30F4F0D8-8C7C-41AE-8DEC-4844DFF66746}">
          <p14:sldIdLst>
            <p14:sldId id="256"/>
            <p14:sldId id="549"/>
            <p14:sldId id="323"/>
          </p14:sldIdLst>
        </p14:section>
        <p14:section name="What is AI?" id="{CADD6ED0-27FA-4264-8929-7A5C70AB7C72}">
          <p14:sldIdLst/>
        </p14:section>
        <p14:section name="Organization" id="{D2F54325-5552-468B-A997-92AEC2A38CB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200"/>
    <a:srgbClr val="FFFF3F"/>
    <a:srgbClr val="EEF315"/>
    <a:srgbClr val="F2F650"/>
    <a:srgbClr val="FFFF5B"/>
    <a:srgbClr val="00680A"/>
    <a:srgbClr val="54E503"/>
    <a:srgbClr val="5D42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2234AE-99F9-4D7F-B481-95345871E2B3}">
  <a:tblStyle styleId="{842234AE-99F9-4D7F-B481-95345871E2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6" autoAdjust="0"/>
    <p:restoredTop sz="60870" autoAdjust="0"/>
  </p:normalViewPr>
  <p:slideViewPr>
    <p:cSldViewPr snapToGrid="0">
      <p:cViewPr varScale="1">
        <p:scale>
          <a:sx n="89" d="100"/>
          <a:sy n="89" d="100"/>
        </p:scale>
        <p:origin x="2358" y="78"/>
      </p:cViewPr>
      <p:guideLst>
        <p:guide orient="horz" pos="162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5feb945c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5feb945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1959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5feb945c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130" name="Google Shape;130;g5feb945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algorithm works a lot like hill climbing but doesn’t need to rely on a neighbourhood relationship (which isn’t present in continuous search spaces). Instead, it uses the gradient. The gradient is a number that tells us how much the function grows if we make a step into a particular direction. Ideally, we can get this gradient based on the first derivation of the function. Often, that isn’t possible In this case we can approximate the gradient by making a small step into the direction and checking how much our function changes.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more detail, this is algorithm works as follows: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en-US" dirty="0"/>
                  <a:t>Start from the current point and calculate the gradient. We calculate gradients one parameter at a time. In our example, we are calculating two gradients </a:t>
                </a:r>
                <a14:m>
                  <m:oMath xmlns:m="http://schemas.openxmlformats.org/officeDocument/2006/math">
                    <m:sSub>
                      <m:sSubPr>
                        <m:ctrlPr>
                          <a:rPr lang="de-DE" sz="1100" i="1" smtClean="0">
                            <a:latin typeface="Cambria Math" panose="02040503050406030204" pitchFamily="18" charset="0"/>
                          </a:rPr>
                        </m:ctrlPr>
                      </m:sSubPr>
                      <m:e>
                        <m:r>
                          <a:rPr lang="de-DE" sz="1100" i="1" smtClean="0">
                            <a:latin typeface="Cambria Math" panose="02040503050406030204" pitchFamily="18" charset="0"/>
                            <a:ea typeface="Cambria Math" panose="02040503050406030204" pitchFamily="18" charset="0"/>
                          </a:rPr>
                          <m:t>∆</m:t>
                        </m:r>
                      </m:e>
                      <m:sub>
                        <m:r>
                          <a:rPr lang="en-GB" sz="1100" b="0" i="1" smtClean="0">
                            <a:latin typeface="Cambria Math" panose="02040503050406030204" pitchFamily="18" charset="0"/>
                          </a:rPr>
                          <m:t>𝑝𝑟𝑖𝑐𝑒</m:t>
                        </m:r>
                      </m:sub>
                    </m:sSub>
                  </m:oMath>
                </a14:m>
                <a:r>
                  <a:rPr lang="en-GB" sz="1100" dirty="0"/>
                  <a:t> and </a:t>
                </a:r>
                <a14:m>
                  <m:oMath xmlns:m="http://schemas.openxmlformats.org/officeDocument/2006/math">
                    <m:sSub>
                      <m:sSubPr>
                        <m:ctrlPr>
                          <a:rPr lang="de-DE" sz="1100" i="1" smtClean="0">
                            <a:latin typeface="Cambria Math" panose="02040503050406030204" pitchFamily="18" charset="0"/>
                          </a:rPr>
                        </m:ctrlPr>
                      </m:sSubPr>
                      <m:e>
                        <m:r>
                          <a:rPr lang="de-DE" sz="1100" i="1" smtClean="0">
                            <a:latin typeface="Cambria Math" panose="02040503050406030204" pitchFamily="18" charset="0"/>
                            <a:ea typeface="Cambria Math" panose="02040503050406030204" pitchFamily="18" charset="0"/>
                          </a:rPr>
                          <m:t>∆</m:t>
                        </m:r>
                      </m:e>
                      <m:sub>
                        <m:r>
                          <a:rPr lang="en-GB" sz="1100" b="0" i="1" smtClean="0">
                            <a:latin typeface="Cambria Math" panose="02040503050406030204" pitchFamily="18" charset="0"/>
                          </a:rPr>
                          <m:t>𝑏𝑢𝑑𝑔𝑒𝑡</m:t>
                        </m:r>
                      </m:sub>
                    </m:sSub>
                  </m:oMath>
                </a14:m>
                <a:r>
                  <a:rPr lang="en-GB" sz="1100" dirty="0"/>
                  <a:t> by</a:t>
                </a:r>
                <a:r>
                  <a:rPr lang="en-GB" sz="1100" baseline="0" dirty="0"/>
                  <a:t> fixing the other parameter and calculating the gradient of the other. </a:t>
                </a:r>
                <a:endParaRPr lang="en-US" dirty="0"/>
              </a:p>
              <a:p>
                <a:pPr marL="228600" lvl="0" indent="-228600" algn="l" rtl="0">
                  <a:spcBef>
                    <a:spcPts val="0"/>
                  </a:spcBef>
                  <a:spcAft>
                    <a:spcPts val="0"/>
                  </a:spcAft>
                  <a:buAutoNum type="arabicParenR"/>
                </a:pPr>
                <a:r>
                  <a:rPr lang="en-US" dirty="0"/>
                  <a:t>Move into the direction of the gradient. This means taking the current point and adding the gradients for all parameters to it. This results in the vector in the example illustration in the slide. Note that often we want to regulate how far we jump. For this purpose, we have a learning rate that we can choose to adjust our step size. If the resulting point is smaller – or very close – to our current point, then we can stop the algorithm.</a:t>
                </a:r>
              </a:p>
              <a:p>
                <a:pPr marL="228600" lvl="0" indent="-228600" algn="l" rtl="0">
                  <a:spcBef>
                    <a:spcPts val="0"/>
                  </a:spcBef>
                  <a:spcAft>
                    <a:spcPts val="0"/>
                  </a:spcAft>
                  <a:buAutoNum type="arabicParenR"/>
                </a:pPr>
                <a:r>
                  <a:rPr lang="en-US" dirty="0"/>
                  <a:t>If we haven’t stopped the algorithm the calculated point becomes our new start point and we repeat from step 1.</a:t>
                </a:r>
              </a:p>
            </p:txBody>
          </p:sp>
        </mc:Choice>
        <mc:Fallback xmlns="">
          <p:sp>
            <p:nvSpPr>
              <p:cNvPr id="130" name="Google Shape;130;g5feb945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algorithm works a lot like hill climbing but doesn’t need to rely on a neighbourhood relationship (which isn’t present in continuous search spaces). Instead, it uses the gradient. The gradient is a number that tells us how much the function grows if we make a step into a particular direction. Ideally, we can get this gradient based on the first derivation of the function. Often, that isn’t possible In this case we can approximate the gradient by making a small step into the direction and checking how much our function changes.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more detail, this is algorithm works as follows: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en-US" dirty="0"/>
                  <a:t>Start from the current point and calculate the gradient. We calculate gradients one parameter at a time. In our example, we are calculating two gradients </a:t>
                </a:r>
                <a:r>
                  <a:rPr lang="de-DE" sz="1100" i="0">
                    <a:latin typeface="Cambria Math" panose="02040503050406030204" pitchFamily="18" charset="0"/>
                    <a:ea typeface="Cambria Math" panose="02040503050406030204" pitchFamily="18" charset="0"/>
                  </a:rPr>
                  <a:t>∆_</a:t>
                </a:r>
                <a:r>
                  <a:rPr lang="en-GB" sz="1100" b="0" i="0">
                    <a:latin typeface="Cambria Math" panose="02040503050406030204" pitchFamily="18" charset="0"/>
                  </a:rPr>
                  <a:t>𝑝𝑟𝑖𝑐𝑒</a:t>
                </a:r>
                <a:r>
                  <a:rPr lang="en-GB" sz="1100" dirty="0"/>
                  <a:t> and </a:t>
                </a:r>
                <a:r>
                  <a:rPr lang="de-DE" sz="1100" i="0">
                    <a:latin typeface="Cambria Math" panose="02040503050406030204" pitchFamily="18" charset="0"/>
                    <a:ea typeface="Cambria Math" panose="02040503050406030204" pitchFamily="18" charset="0"/>
                  </a:rPr>
                  <a:t>∆_</a:t>
                </a:r>
                <a:r>
                  <a:rPr lang="en-GB" sz="1100" b="0" i="0">
                    <a:latin typeface="Cambria Math" panose="02040503050406030204" pitchFamily="18" charset="0"/>
                  </a:rPr>
                  <a:t>𝑏𝑢𝑑𝑔𝑒𝑡</a:t>
                </a:r>
                <a:r>
                  <a:rPr lang="en-GB" sz="1100" dirty="0"/>
                  <a:t> by</a:t>
                </a:r>
                <a:r>
                  <a:rPr lang="en-GB" sz="1100" baseline="0" dirty="0"/>
                  <a:t> fixing the other parameter and calculating the gradient of the other. </a:t>
                </a:r>
                <a:endParaRPr lang="en-US" dirty="0"/>
              </a:p>
              <a:p>
                <a:pPr marL="228600" lvl="0" indent="-228600" algn="l" rtl="0">
                  <a:spcBef>
                    <a:spcPts val="0"/>
                  </a:spcBef>
                  <a:spcAft>
                    <a:spcPts val="0"/>
                  </a:spcAft>
                  <a:buAutoNum type="arabicParenR"/>
                </a:pPr>
                <a:r>
                  <a:rPr lang="en-US" dirty="0"/>
                  <a:t>Move into the direction of the gradient. This means taking the current point and adding the gradients for all parameters to it. This results in the vector in the example illustration in the slide. Note that often we want to regulate how far we actually jump. For this purpose, we have a learning rate that we can choose to adjust our step size. If the resulting point is smaller – or very </a:t>
                </a:r>
                <a:r>
                  <a:rPr lang="en-US" dirty="0" err="1"/>
                  <a:t>very</a:t>
                </a:r>
                <a:r>
                  <a:rPr lang="en-US" dirty="0"/>
                  <a:t> close – to our current point then we can stop the algorithm.</a:t>
                </a:r>
              </a:p>
              <a:p>
                <a:pPr marL="228600" lvl="0" indent="-228600" algn="l" rtl="0">
                  <a:spcBef>
                    <a:spcPts val="0"/>
                  </a:spcBef>
                  <a:spcAft>
                    <a:spcPts val="0"/>
                  </a:spcAft>
                  <a:buAutoNum type="arabicParenR"/>
                </a:pPr>
                <a:r>
                  <a:rPr lang="en-US" dirty="0"/>
                  <a:t>If we haven’t stopped the algorithm the calculated point becomes our new start point and we repeat from step 1.</a:t>
                </a:r>
              </a:p>
            </p:txBody>
          </p:sp>
        </mc:Fallback>
      </mc:AlternateContent>
    </p:spTree>
    <p:extLst>
      <p:ext uri="{BB962C8B-B14F-4D97-AF65-F5344CB8AC3E}">
        <p14:creationId xmlns:p14="http://schemas.microsoft.com/office/powerpoint/2010/main" val="413468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4" name="Rectangle 3">
            <a:extLst>
              <a:ext uri="{FF2B5EF4-FFF2-40B4-BE49-F238E27FC236}">
                <a16:creationId xmlns:a16="http://schemas.microsoft.com/office/drawing/2014/main" id="{A5908B0A-9B36-41BD-B94D-F717BEA47C56}"/>
              </a:ext>
            </a:extLst>
          </p:cNvPr>
          <p:cNvSpPr/>
          <p:nvPr/>
        </p:nvSpPr>
        <p:spPr>
          <a:xfrm>
            <a:off x="-1"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Gradient Ascent</a:t>
            </a:r>
            <a:endParaRPr lang="de-DE"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tx1"/>
                </a:solidFill>
              </a:rPr>
              <a:t>A Basic Optimization Algorithm</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5" name="Rectangle 4">
            <a:extLst>
              <a:ext uri="{FF2B5EF4-FFF2-40B4-BE49-F238E27FC236}">
                <a16:creationId xmlns:a16="http://schemas.microsoft.com/office/drawing/2014/main" id="{231A019D-B1C7-4514-9CEC-5F129AD83145}"/>
              </a:ext>
            </a:extLst>
          </p:cNvPr>
          <p:cNvSpPr/>
          <p:nvPr/>
        </p:nvSpPr>
        <p:spPr>
          <a:xfrm>
            <a:off x="-1"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132" name="Google Shape;132;p26"/>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 Glance</a:t>
            </a:r>
            <a:endParaRPr dirty="0"/>
          </a:p>
        </p:txBody>
      </p:sp>
      <p:sp>
        <p:nvSpPr>
          <p:cNvPr id="133" name="Google Shape;133;p26"/>
          <p:cNvSpPr txBox="1">
            <a:spLocks noGrp="1"/>
          </p:cNvSpPr>
          <p:nvPr>
            <p:ph type="body" idx="1"/>
          </p:nvPr>
        </p:nvSpPr>
        <p:spPr>
          <a:xfrm>
            <a:off x="311700" y="854550"/>
            <a:ext cx="8520600" cy="42891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endParaRPr lang="en-US" b="1" dirty="0">
              <a:solidFill>
                <a:schemeClr val="tx1"/>
              </a:solidFill>
            </a:endParaRPr>
          </a:p>
          <a:p>
            <a:pPr marL="114300" lvl="0" indent="0" algn="l" rtl="0">
              <a:spcBef>
                <a:spcPts val="0"/>
              </a:spcBef>
              <a:spcAft>
                <a:spcPts val="0"/>
              </a:spcAft>
              <a:buSzPts val="1800"/>
              <a:buNone/>
            </a:pPr>
            <a:r>
              <a:rPr lang="en-US" b="1" dirty="0">
                <a:solidFill>
                  <a:schemeClr val="tx1"/>
                </a:solidFill>
              </a:rPr>
              <a:t>Applicability</a:t>
            </a:r>
            <a:r>
              <a:rPr lang="en-US" dirty="0">
                <a:solidFill>
                  <a:schemeClr val="tx1"/>
                </a:solidFill>
              </a:rPr>
              <a:t>: Continuous Optimization Problems</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r>
              <a:rPr lang="en-GB" b="1" dirty="0">
                <a:solidFill>
                  <a:schemeClr val="tx1"/>
                </a:solidFill>
              </a:rPr>
              <a:t>Abstract Description:</a:t>
            </a:r>
            <a:r>
              <a:rPr lang="en-GB" dirty="0">
                <a:solidFill>
                  <a:schemeClr val="tx1"/>
                </a:solidFill>
              </a:rPr>
              <a:t> Start at one point, find a direction to jump in based on the growth of the function, repeat.</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r>
              <a:rPr lang="en-GB" b="1" dirty="0">
                <a:solidFill>
                  <a:schemeClr val="tx1"/>
                </a:solidFill>
              </a:rPr>
              <a:t>Parameters:</a:t>
            </a:r>
          </a:p>
          <a:p>
            <a:pPr>
              <a:buClrTx/>
            </a:pPr>
            <a:r>
              <a:rPr lang="en-GB" sz="1600" i="1" dirty="0">
                <a:solidFill>
                  <a:schemeClr val="tx1"/>
                </a:solidFill>
              </a:rPr>
              <a:t>starting point: which point to start on</a:t>
            </a:r>
          </a:p>
          <a:p>
            <a:pPr>
              <a:buClrTx/>
            </a:pPr>
            <a:r>
              <a:rPr lang="en-GB" sz="1600" i="1" dirty="0" err="1">
                <a:solidFill>
                  <a:schemeClr val="tx1"/>
                </a:solidFill>
              </a:rPr>
              <a:t>learning_rate</a:t>
            </a:r>
            <a:r>
              <a:rPr lang="en-GB" sz="1600" dirty="0">
                <a:solidFill>
                  <a:schemeClr val="tx1"/>
                </a:solidFill>
              </a:rPr>
              <a:t>: how far to jump relative to the growth</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endParaRPr dirty="0">
              <a:solidFill>
                <a:schemeClr val="tx1"/>
              </a:solidFill>
            </a:endParaRPr>
          </a:p>
        </p:txBody>
      </p:sp>
      <p:sp>
        <p:nvSpPr>
          <p:cNvPr id="2" name="Rectangle 1">
            <a:extLst>
              <a:ext uri="{FF2B5EF4-FFF2-40B4-BE49-F238E27FC236}">
                <a16:creationId xmlns:a16="http://schemas.microsoft.com/office/drawing/2014/main" id="{4AF8C422-3FD3-46ED-984E-AB49D01DB69A}"/>
              </a:ext>
            </a:extLst>
          </p:cNvPr>
          <p:cNvSpPr/>
          <p:nvPr/>
        </p:nvSpPr>
        <p:spPr>
          <a:xfrm>
            <a:off x="4454820" y="2417862"/>
            <a:ext cx="234360" cy="307777"/>
          </a:xfrm>
          <a:prstGeom prst="rect">
            <a:avLst/>
          </a:prstGeom>
        </p:spPr>
        <p:txBody>
          <a:bodyPr wrap="none">
            <a:spAutoFit/>
          </a:bodyPr>
          <a:lstStyle/>
          <a:p>
            <a:r>
              <a:rPr lang="en-DE" dirty="0"/>
              <a:t> </a:t>
            </a:r>
          </a:p>
        </p:txBody>
      </p:sp>
    </p:spTree>
    <p:extLst>
      <p:ext uri="{BB962C8B-B14F-4D97-AF65-F5344CB8AC3E}">
        <p14:creationId xmlns:p14="http://schemas.microsoft.com/office/powerpoint/2010/main" val="219855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5" name="Rectangle 4">
            <a:extLst>
              <a:ext uri="{FF2B5EF4-FFF2-40B4-BE49-F238E27FC236}">
                <a16:creationId xmlns:a16="http://schemas.microsoft.com/office/drawing/2014/main" id="{231A019D-B1C7-4514-9CEC-5F129AD83145}"/>
              </a:ext>
            </a:extLst>
          </p:cNvPr>
          <p:cNvSpPr/>
          <p:nvPr/>
        </p:nvSpPr>
        <p:spPr>
          <a:xfrm>
            <a:off x="30956"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132" name="Google Shape;132;p26"/>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Algorithm</a:t>
            </a:r>
            <a:endParaRPr dirty="0"/>
          </a:p>
        </p:txBody>
      </p:sp>
      <p:sp>
        <p:nvSpPr>
          <p:cNvPr id="133" name="Google Shape;133;p26"/>
          <p:cNvSpPr txBox="1">
            <a:spLocks noGrp="1"/>
          </p:cNvSpPr>
          <p:nvPr>
            <p:ph type="body" idx="1"/>
          </p:nvPr>
        </p:nvSpPr>
        <p:spPr>
          <a:xfrm>
            <a:off x="311700" y="854550"/>
            <a:ext cx="8520600" cy="4289100"/>
          </a:xfrm>
          <a:prstGeom prst="rect">
            <a:avLst/>
          </a:prstGeom>
        </p:spPr>
        <p:txBody>
          <a:bodyPr spcFirstLastPara="1" wrap="square" lIns="91425" tIns="91425" rIns="91425" bIns="91425" anchor="t" anchorCtr="0">
            <a:noAutofit/>
          </a:bodyPr>
          <a:lstStyle/>
          <a:p>
            <a:pPr lvl="0" algn="l" rtl="0">
              <a:spcBef>
                <a:spcPts val="0"/>
              </a:spcBef>
              <a:spcAft>
                <a:spcPts val="0"/>
              </a:spcAft>
              <a:buSzPts val="1800"/>
              <a:buAutoNum type="arabicParenR"/>
            </a:pPr>
            <a:endParaRPr lang="en-GB" dirty="0">
              <a:solidFill>
                <a:schemeClr val="tx1"/>
              </a:solidFill>
            </a:endParaRPr>
          </a:p>
          <a:p>
            <a:pPr lvl="0" algn="l" rtl="0">
              <a:spcBef>
                <a:spcPts val="0"/>
              </a:spcBef>
              <a:spcAft>
                <a:spcPts val="0"/>
              </a:spcAft>
              <a:buClrTx/>
              <a:buSzPts val="1800"/>
              <a:buAutoNum type="arabicParenR"/>
            </a:pPr>
            <a:r>
              <a:rPr lang="en-GB" dirty="0">
                <a:solidFill>
                  <a:schemeClr val="tx1"/>
                </a:solidFill>
              </a:rPr>
              <a:t>Start at a point and calculate the gradient</a:t>
            </a:r>
          </a:p>
          <a:p>
            <a:pPr lvl="1">
              <a:spcBef>
                <a:spcPts val="0"/>
              </a:spcBef>
              <a:buClrTx/>
              <a:buSzPts val="1800"/>
            </a:pPr>
            <a:r>
              <a:rPr lang="en-GB" sz="1200" dirty="0">
                <a:solidFill>
                  <a:schemeClr val="tx1"/>
                </a:solidFill>
              </a:rPr>
              <a:t>The gradient is component-wise defined by the gradients of all parameters</a:t>
            </a:r>
          </a:p>
          <a:p>
            <a:pPr lvl="1">
              <a:spcBef>
                <a:spcPts val="0"/>
              </a:spcBef>
              <a:buClrTx/>
              <a:buSzPts val="1800"/>
            </a:pPr>
            <a:r>
              <a:rPr lang="en-GB" sz="1200" dirty="0">
                <a:solidFill>
                  <a:schemeClr val="tx1"/>
                </a:solidFill>
              </a:rPr>
              <a:t>Gradient of 1 parameter = first derivation</a:t>
            </a:r>
          </a:p>
          <a:p>
            <a:pPr lvl="1">
              <a:spcBef>
                <a:spcPts val="0"/>
              </a:spcBef>
              <a:buClrTx/>
              <a:buSzPts val="1800"/>
            </a:pPr>
            <a:r>
              <a:rPr lang="en-GB" sz="1200" dirty="0">
                <a:solidFill>
                  <a:schemeClr val="tx1"/>
                </a:solidFill>
              </a:rPr>
              <a:t>Gradient approximation via close by point</a:t>
            </a:r>
            <a:endParaRPr lang="en-GB" dirty="0">
              <a:solidFill>
                <a:schemeClr val="tx1"/>
              </a:solidFill>
            </a:endParaRPr>
          </a:p>
          <a:p>
            <a:pPr>
              <a:buClrTx/>
              <a:buFont typeface="Arial"/>
              <a:buAutoNum type="arabicParenR"/>
            </a:pPr>
            <a:endParaRPr lang="en-GB" dirty="0">
              <a:solidFill>
                <a:schemeClr val="tx1"/>
              </a:solidFill>
            </a:endParaRPr>
          </a:p>
          <a:p>
            <a:pPr>
              <a:buClrTx/>
              <a:buFont typeface="Arial"/>
              <a:buAutoNum type="arabicParenR"/>
            </a:pPr>
            <a:r>
              <a:rPr lang="en-GB" dirty="0">
                <a:solidFill>
                  <a:schemeClr val="tx1"/>
                </a:solidFill>
              </a:rPr>
              <a:t>Move into the direction of the gradient</a:t>
            </a:r>
          </a:p>
          <a:p>
            <a:pPr lvl="1">
              <a:spcBef>
                <a:spcPts val="0"/>
              </a:spcBef>
              <a:buClrTx/>
              <a:buSzPts val="1800"/>
            </a:pPr>
            <a:r>
              <a:rPr lang="en-GB" sz="1200" dirty="0">
                <a:solidFill>
                  <a:schemeClr val="tx1"/>
                </a:solidFill>
              </a:rPr>
              <a:t>Distance is influenced by learning rate</a:t>
            </a:r>
          </a:p>
          <a:p>
            <a:pPr lvl="1">
              <a:spcBef>
                <a:spcPts val="0"/>
              </a:spcBef>
              <a:buClrTx/>
              <a:buSzPts val="1800"/>
            </a:pPr>
            <a:r>
              <a:rPr lang="en-GB" sz="1200" dirty="0">
                <a:solidFill>
                  <a:schemeClr val="tx1"/>
                </a:solidFill>
              </a:rPr>
              <a:t>If the resulting point is worse than the current one we </a:t>
            </a:r>
            <a:br>
              <a:rPr lang="en-GB" sz="1200" dirty="0">
                <a:solidFill>
                  <a:schemeClr val="tx1"/>
                </a:solidFill>
              </a:rPr>
            </a:br>
            <a:r>
              <a:rPr lang="en-GB" sz="1200" dirty="0">
                <a:solidFill>
                  <a:schemeClr val="tx1"/>
                </a:solidFill>
              </a:rPr>
              <a:t>are finished.</a:t>
            </a:r>
          </a:p>
          <a:p>
            <a:pPr>
              <a:buFont typeface="Arial"/>
              <a:buAutoNum type="arabicParenR"/>
            </a:pPr>
            <a:endParaRPr lang="en-GB" dirty="0">
              <a:solidFill>
                <a:schemeClr val="tx1"/>
              </a:solidFill>
            </a:endParaRPr>
          </a:p>
          <a:p>
            <a:pPr>
              <a:buClrTx/>
              <a:buFont typeface="Arial"/>
              <a:buAutoNum type="arabicParenR"/>
            </a:pPr>
            <a:r>
              <a:rPr lang="en-GB" dirty="0">
                <a:solidFill>
                  <a:schemeClr val="tx1"/>
                </a:solidFill>
              </a:rPr>
              <a:t>Repeat from 1.</a:t>
            </a:r>
          </a:p>
          <a:p>
            <a:pPr marL="596900" lvl="1" indent="0">
              <a:spcBef>
                <a:spcPts val="0"/>
              </a:spcBef>
              <a:buSzPts val="1800"/>
              <a:buNone/>
            </a:pPr>
            <a:endParaRPr lang="en-GB" dirty="0">
              <a:solidFill>
                <a:schemeClr val="tx1"/>
              </a:solidFill>
            </a:endParaRPr>
          </a:p>
          <a:p>
            <a:pPr lvl="1">
              <a:spcBef>
                <a:spcPts val="0"/>
              </a:spcBef>
              <a:buSzPts val="1800"/>
            </a:pPr>
            <a:endParaRPr lang="en-GB" dirty="0">
              <a:solidFill>
                <a:schemeClr val="tx1"/>
              </a:solidFill>
            </a:endParaRPr>
          </a:p>
          <a:p>
            <a:pPr>
              <a:buFont typeface="+mj-lt"/>
              <a:buAutoNum type="arabicParenR"/>
            </a:pPr>
            <a:endParaRPr lang="en-GB" dirty="0">
              <a:solidFill>
                <a:schemeClr val="tx1"/>
              </a:solidFill>
            </a:endParaRPr>
          </a:p>
        </p:txBody>
      </p:sp>
      <p:sp>
        <p:nvSpPr>
          <p:cNvPr id="2" name="Rectangle 1">
            <a:extLst>
              <a:ext uri="{FF2B5EF4-FFF2-40B4-BE49-F238E27FC236}">
                <a16:creationId xmlns:a16="http://schemas.microsoft.com/office/drawing/2014/main" id="{4AF8C422-3FD3-46ED-984E-AB49D01DB69A}"/>
              </a:ext>
            </a:extLst>
          </p:cNvPr>
          <p:cNvSpPr/>
          <p:nvPr/>
        </p:nvSpPr>
        <p:spPr>
          <a:xfrm>
            <a:off x="4454820" y="2417862"/>
            <a:ext cx="234360" cy="307777"/>
          </a:xfrm>
          <a:prstGeom prst="rect">
            <a:avLst/>
          </a:prstGeom>
        </p:spPr>
        <p:txBody>
          <a:bodyPr wrap="none">
            <a:spAutoFit/>
          </a:bodyPr>
          <a:lstStyle/>
          <a:p>
            <a:r>
              <a:rPr lang="en-DE" dirty="0"/>
              <a:t> </a:t>
            </a:r>
          </a:p>
        </p:txBody>
      </p:sp>
      <p:sp>
        <p:nvSpPr>
          <p:cNvPr id="3" name="Rectangle 2">
            <a:extLst>
              <a:ext uri="{FF2B5EF4-FFF2-40B4-BE49-F238E27FC236}">
                <a16:creationId xmlns:a16="http://schemas.microsoft.com/office/drawing/2014/main" id="{99D90051-2A82-4B89-96BE-AC705BF6C9B4}"/>
              </a:ext>
            </a:extLst>
          </p:cNvPr>
          <p:cNvSpPr/>
          <p:nvPr/>
        </p:nvSpPr>
        <p:spPr>
          <a:xfrm>
            <a:off x="5781675" y="2094012"/>
            <a:ext cx="2955375" cy="2531513"/>
          </a:xfrm>
          <a:prstGeom prst="rect">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cxnSp>
        <p:nvCxnSpPr>
          <p:cNvPr id="6" name="Straight Arrow Connector 5">
            <a:extLst>
              <a:ext uri="{FF2B5EF4-FFF2-40B4-BE49-F238E27FC236}">
                <a16:creationId xmlns:a16="http://schemas.microsoft.com/office/drawing/2014/main" id="{04557079-857C-4EB5-8F1B-365704A0D8C0}"/>
              </a:ext>
            </a:extLst>
          </p:cNvPr>
          <p:cNvCxnSpPr>
            <a:cxnSpLocks/>
          </p:cNvCxnSpPr>
          <p:nvPr/>
        </p:nvCxnSpPr>
        <p:spPr>
          <a:xfrm flipV="1">
            <a:off x="5781675" y="2005013"/>
            <a:ext cx="0" cy="2620513"/>
          </a:xfrm>
          <a:prstGeom prst="straightConnector1">
            <a:avLst/>
          </a:prstGeom>
          <a:ln w="25400">
            <a:headEnd w="lg" len="lg"/>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DFF47AA-A208-4FE6-B83E-5A953A6C37F6}"/>
              </a:ext>
            </a:extLst>
          </p:cNvPr>
          <p:cNvCxnSpPr>
            <a:cxnSpLocks/>
          </p:cNvCxnSpPr>
          <p:nvPr/>
        </p:nvCxnSpPr>
        <p:spPr>
          <a:xfrm flipV="1">
            <a:off x="5781675" y="4625525"/>
            <a:ext cx="3035025" cy="1"/>
          </a:xfrm>
          <a:prstGeom prst="straightConnector1">
            <a:avLst/>
          </a:prstGeom>
          <a:ln w="25400">
            <a:headEnd w="lg" len="lg"/>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59DB2FF-F944-45C1-9065-DAB462AA7CFE}"/>
              </a:ext>
            </a:extLst>
          </p:cNvPr>
          <p:cNvSpPr txBox="1"/>
          <p:nvPr/>
        </p:nvSpPr>
        <p:spPr>
          <a:xfrm rot="16200000">
            <a:off x="5345414" y="1977602"/>
            <a:ext cx="572593" cy="307777"/>
          </a:xfrm>
          <a:prstGeom prst="rect">
            <a:avLst/>
          </a:prstGeom>
          <a:noFill/>
        </p:spPr>
        <p:txBody>
          <a:bodyPr wrap="none" rtlCol="0">
            <a:spAutoFit/>
          </a:bodyPr>
          <a:lstStyle/>
          <a:p>
            <a:r>
              <a:rPr lang="en-GB" dirty="0"/>
              <a:t>price</a:t>
            </a:r>
            <a:endParaRPr lang="en-DE" dirty="0"/>
          </a:p>
        </p:txBody>
      </p:sp>
      <p:sp>
        <p:nvSpPr>
          <p:cNvPr id="14" name="TextBox 13">
            <a:extLst>
              <a:ext uri="{FF2B5EF4-FFF2-40B4-BE49-F238E27FC236}">
                <a16:creationId xmlns:a16="http://schemas.microsoft.com/office/drawing/2014/main" id="{AE7BA4D1-803F-4083-9365-3523E76BFE20}"/>
              </a:ext>
            </a:extLst>
          </p:cNvPr>
          <p:cNvSpPr txBox="1"/>
          <p:nvPr/>
        </p:nvSpPr>
        <p:spPr>
          <a:xfrm>
            <a:off x="8339696" y="4582872"/>
            <a:ext cx="731290" cy="307777"/>
          </a:xfrm>
          <a:prstGeom prst="rect">
            <a:avLst/>
          </a:prstGeom>
          <a:noFill/>
        </p:spPr>
        <p:txBody>
          <a:bodyPr wrap="none" rtlCol="0">
            <a:spAutoFit/>
          </a:bodyPr>
          <a:lstStyle/>
          <a:p>
            <a:r>
              <a:rPr lang="en-GB" dirty="0"/>
              <a:t>budget</a:t>
            </a:r>
            <a:endParaRPr lang="en-DE" dirty="0"/>
          </a:p>
        </p:txBody>
      </p:sp>
      <p:sp>
        <p:nvSpPr>
          <p:cNvPr id="50" name="Oval 49">
            <a:extLst>
              <a:ext uri="{FF2B5EF4-FFF2-40B4-BE49-F238E27FC236}">
                <a16:creationId xmlns:a16="http://schemas.microsoft.com/office/drawing/2014/main" id="{64FDD082-E817-4DC3-8425-837CC98897DE}"/>
              </a:ext>
            </a:extLst>
          </p:cNvPr>
          <p:cNvSpPr/>
          <p:nvPr/>
        </p:nvSpPr>
        <p:spPr>
          <a:xfrm>
            <a:off x="6836876" y="3620614"/>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cxnSp>
        <p:nvCxnSpPr>
          <p:cNvPr id="62" name="Straight Arrow Connector 61">
            <a:extLst>
              <a:ext uri="{FF2B5EF4-FFF2-40B4-BE49-F238E27FC236}">
                <a16:creationId xmlns:a16="http://schemas.microsoft.com/office/drawing/2014/main" id="{3215E964-2CB2-4B42-85BB-C28AB2E4D6AC}"/>
              </a:ext>
            </a:extLst>
          </p:cNvPr>
          <p:cNvCxnSpPr>
            <a:cxnSpLocks/>
          </p:cNvCxnSpPr>
          <p:nvPr/>
        </p:nvCxnSpPr>
        <p:spPr>
          <a:xfrm flipV="1">
            <a:off x="6874669" y="3204610"/>
            <a:ext cx="846931" cy="445846"/>
          </a:xfrm>
          <a:prstGeom prst="straightConnector1">
            <a:avLst/>
          </a:prstGeom>
          <a:ln>
            <a:prstDash val="solid"/>
            <a:tailEnd type="triangle"/>
          </a:ln>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245FC27B-F70D-48EA-97F1-03A1068340BF}"/>
              </a:ext>
            </a:extLst>
          </p:cNvPr>
          <p:cNvGrpSpPr/>
          <p:nvPr/>
        </p:nvGrpSpPr>
        <p:grpSpPr>
          <a:xfrm>
            <a:off x="6112453" y="3301689"/>
            <a:ext cx="724423" cy="533904"/>
            <a:chOff x="7125336" y="3713436"/>
            <a:chExt cx="724423" cy="533904"/>
          </a:xfrm>
        </p:grpSpPr>
        <p:grpSp>
          <p:nvGrpSpPr>
            <p:cNvPr id="12" name="Group 11">
              <a:extLst>
                <a:ext uri="{FF2B5EF4-FFF2-40B4-BE49-F238E27FC236}">
                  <a16:creationId xmlns:a16="http://schemas.microsoft.com/office/drawing/2014/main" id="{BC1FFD60-9980-48E6-B901-6370B56D34AE}"/>
                </a:ext>
              </a:extLst>
            </p:cNvPr>
            <p:cNvGrpSpPr/>
            <p:nvPr/>
          </p:nvGrpSpPr>
          <p:grpSpPr>
            <a:xfrm>
              <a:off x="7125336" y="3843297"/>
              <a:ext cx="596264" cy="404043"/>
              <a:chOff x="5934075" y="2157413"/>
              <a:chExt cx="3035025" cy="2620513"/>
            </a:xfrm>
          </p:grpSpPr>
          <p:sp>
            <p:nvSpPr>
              <p:cNvPr id="25" name="Rectangle 24">
                <a:extLst>
                  <a:ext uri="{FF2B5EF4-FFF2-40B4-BE49-F238E27FC236}">
                    <a16:creationId xmlns:a16="http://schemas.microsoft.com/office/drawing/2014/main" id="{7BE46ADB-EF60-4BA3-B80E-74DFCE9C3CAA}"/>
                  </a:ext>
                </a:extLst>
              </p:cNvPr>
              <p:cNvSpPr/>
              <p:nvPr/>
            </p:nvSpPr>
            <p:spPr>
              <a:xfrm>
                <a:off x="5934075" y="2246412"/>
                <a:ext cx="2955375" cy="2531513"/>
              </a:xfrm>
              <a:prstGeom prst="rect">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cxnSp>
            <p:nvCxnSpPr>
              <p:cNvPr id="26" name="Straight Arrow Connector 25">
                <a:extLst>
                  <a:ext uri="{FF2B5EF4-FFF2-40B4-BE49-F238E27FC236}">
                    <a16:creationId xmlns:a16="http://schemas.microsoft.com/office/drawing/2014/main" id="{F3000686-AF00-4FB7-A69B-9F1725F41873}"/>
                  </a:ext>
                </a:extLst>
              </p:cNvPr>
              <p:cNvCxnSpPr>
                <a:cxnSpLocks/>
              </p:cNvCxnSpPr>
              <p:nvPr/>
            </p:nvCxnSpPr>
            <p:spPr>
              <a:xfrm flipV="1">
                <a:off x="5934075" y="2157413"/>
                <a:ext cx="0" cy="2620513"/>
              </a:xfrm>
              <a:prstGeom prst="straightConnector1">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40E71141-22D2-4644-AC33-DF350873807A}"/>
                  </a:ext>
                </a:extLst>
              </p:cNvPr>
              <p:cNvCxnSpPr>
                <a:cxnSpLocks/>
              </p:cNvCxnSpPr>
              <p:nvPr/>
            </p:nvCxnSpPr>
            <p:spPr>
              <a:xfrm flipV="1">
                <a:off x="5934075" y="4777925"/>
                <a:ext cx="3035025" cy="1"/>
              </a:xfrm>
              <a:prstGeom prst="straightConnector1">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grpSp>
        <p:sp>
          <p:nvSpPr>
            <p:cNvPr id="17" name="Freeform: Shape 16">
              <a:extLst>
                <a:ext uri="{FF2B5EF4-FFF2-40B4-BE49-F238E27FC236}">
                  <a16:creationId xmlns:a16="http://schemas.microsoft.com/office/drawing/2014/main" id="{3686AAAE-E8FC-486E-A1E8-D45ADD11E06D}"/>
                </a:ext>
              </a:extLst>
            </p:cNvPr>
            <p:cNvSpPr/>
            <p:nvPr/>
          </p:nvSpPr>
          <p:spPr>
            <a:xfrm>
              <a:off x="7134108" y="3969028"/>
              <a:ext cx="571500" cy="273844"/>
            </a:xfrm>
            <a:custGeom>
              <a:avLst/>
              <a:gdLst>
                <a:gd name="connsiteX0" fmla="*/ 0 w 571500"/>
                <a:gd name="connsiteY0" fmla="*/ 273844 h 273844"/>
                <a:gd name="connsiteX1" fmla="*/ 226219 w 571500"/>
                <a:gd name="connsiteY1" fmla="*/ 80963 h 273844"/>
                <a:gd name="connsiteX2" fmla="*/ 571500 w 571500"/>
                <a:gd name="connsiteY2" fmla="*/ 0 h 273844"/>
              </a:gdLst>
              <a:ahLst/>
              <a:cxnLst>
                <a:cxn ang="0">
                  <a:pos x="connsiteX0" y="connsiteY0"/>
                </a:cxn>
                <a:cxn ang="0">
                  <a:pos x="connsiteX1" y="connsiteY1"/>
                </a:cxn>
                <a:cxn ang="0">
                  <a:pos x="connsiteX2" y="connsiteY2"/>
                </a:cxn>
              </a:cxnLst>
              <a:rect l="l" t="t" r="r" b="b"/>
              <a:pathLst>
                <a:path w="571500" h="273844">
                  <a:moveTo>
                    <a:pt x="0" y="273844"/>
                  </a:moveTo>
                  <a:cubicBezTo>
                    <a:pt x="65484" y="200224"/>
                    <a:pt x="130969" y="126604"/>
                    <a:pt x="226219" y="80963"/>
                  </a:cubicBezTo>
                  <a:cubicBezTo>
                    <a:pt x="321469" y="35322"/>
                    <a:pt x="446484" y="17661"/>
                    <a:pt x="571500" y="0"/>
                  </a:cubicBezTo>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9" name="Straight Connector 18">
              <a:extLst>
                <a:ext uri="{FF2B5EF4-FFF2-40B4-BE49-F238E27FC236}">
                  <a16:creationId xmlns:a16="http://schemas.microsoft.com/office/drawing/2014/main" id="{6023927C-59AD-4B05-A8B4-8ACDF8EBDD10}"/>
                </a:ext>
              </a:extLst>
            </p:cNvPr>
            <p:cNvCxnSpPr>
              <a:cxnSpLocks/>
            </p:cNvCxnSpPr>
            <p:nvPr/>
          </p:nvCxnSpPr>
          <p:spPr>
            <a:xfrm flipV="1">
              <a:off x="7134902" y="3889308"/>
              <a:ext cx="586698" cy="25434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D8E568C-89A5-4A70-934A-0C3E2102448E}"/>
                    </a:ext>
                  </a:extLst>
                </p:cNvPr>
                <p:cNvSpPr txBox="1"/>
                <p:nvPr/>
              </p:nvSpPr>
              <p:spPr>
                <a:xfrm>
                  <a:off x="7378091" y="3713436"/>
                  <a:ext cx="471668" cy="2250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800" i="1" smtClean="0">
                                <a:latin typeface="Cambria Math" panose="02040503050406030204" pitchFamily="18" charset="0"/>
                              </a:rPr>
                            </m:ctrlPr>
                          </m:sSubPr>
                          <m:e>
                            <m:r>
                              <a:rPr lang="de-DE" sz="800" i="1" smtClean="0">
                                <a:latin typeface="Cambria Math" panose="02040503050406030204" pitchFamily="18" charset="0"/>
                                <a:ea typeface="Cambria Math" panose="02040503050406030204" pitchFamily="18" charset="0"/>
                              </a:rPr>
                              <m:t>∆</m:t>
                            </m:r>
                          </m:e>
                          <m:sub>
                            <m:r>
                              <a:rPr lang="en-GB" sz="800" b="0" i="1" smtClean="0">
                                <a:latin typeface="Cambria Math" panose="02040503050406030204" pitchFamily="18" charset="0"/>
                              </a:rPr>
                              <m:t>𝑝𝑟𝑖𝑐𝑒</m:t>
                            </m:r>
                          </m:sub>
                        </m:sSub>
                      </m:oMath>
                    </m:oMathPara>
                  </a14:m>
                  <a:endParaRPr lang="en-DE" sz="800" dirty="0"/>
                </a:p>
              </p:txBody>
            </p:sp>
          </mc:Choice>
          <mc:Fallback xmlns="">
            <p:sp>
              <p:nvSpPr>
                <p:cNvPr id="21" name="TextBox 20">
                  <a:extLst>
                    <a:ext uri="{FF2B5EF4-FFF2-40B4-BE49-F238E27FC236}">
                      <a16:creationId xmlns:a16="http://schemas.microsoft.com/office/drawing/2014/main" id="{FD8E568C-89A5-4A70-934A-0C3E2102448E}"/>
                    </a:ext>
                  </a:extLst>
                </p:cNvPr>
                <p:cNvSpPr txBox="1">
                  <a:spLocks noRot="1" noChangeAspect="1" noMove="1" noResize="1" noEditPoints="1" noAdjustHandles="1" noChangeArrowheads="1" noChangeShapeType="1" noTextEdit="1"/>
                </p:cNvSpPr>
                <p:nvPr/>
              </p:nvSpPr>
              <p:spPr>
                <a:xfrm>
                  <a:off x="7378091" y="3713436"/>
                  <a:ext cx="471668" cy="225062"/>
                </a:xfrm>
                <a:prstGeom prst="rect">
                  <a:avLst/>
                </a:prstGeom>
                <a:blipFill>
                  <a:blip r:embed="rId3"/>
                  <a:stretch>
                    <a:fillRect/>
                  </a:stretch>
                </a:blipFill>
              </p:spPr>
              <p:txBody>
                <a:bodyPr/>
                <a:lstStyle/>
                <a:p>
                  <a:r>
                    <a:rPr lang="en-DE">
                      <a:noFill/>
                    </a:rPr>
                    <a:t> </a:t>
                  </a:r>
                </a:p>
              </p:txBody>
            </p:sp>
          </mc:Fallback>
        </mc:AlternateContent>
      </p:grpSp>
      <p:sp>
        <p:nvSpPr>
          <p:cNvPr id="29" name="Left Brace 28">
            <a:extLst>
              <a:ext uri="{FF2B5EF4-FFF2-40B4-BE49-F238E27FC236}">
                <a16:creationId xmlns:a16="http://schemas.microsoft.com/office/drawing/2014/main" id="{5531D307-B494-4723-8D47-46D2E0EFCE21}"/>
              </a:ext>
            </a:extLst>
          </p:cNvPr>
          <p:cNvSpPr/>
          <p:nvPr/>
        </p:nvSpPr>
        <p:spPr>
          <a:xfrm>
            <a:off x="6759283" y="3204609"/>
            <a:ext cx="45719" cy="44430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DE"/>
          </a:p>
        </p:txBody>
      </p:sp>
      <p:sp>
        <p:nvSpPr>
          <p:cNvPr id="43" name="Left Brace 42">
            <a:extLst>
              <a:ext uri="{FF2B5EF4-FFF2-40B4-BE49-F238E27FC236}">
                <a16:creationId xmlns:a16="http://schemas.microsoft.com/office/drawing/2014/main" id="{7007E166-CBA6-423A-BF5D-3A5F398F97BF}"/>
              </a:ext>
            </a:extLst>
          </p:cNvPr>
          <p:cNvSpPr/>
          <p:nvPr/>
        </p:nvSpPr>
        <p:spPr>
          <a:xfrm rot="16200000">
            <a:off x="7243183" y="3369147"/>
            <a:ext cx="72111" cy="81546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DE"/>
          </a:p>
        </p:txBody>
      </p:sp>
      <p:grpSp>
        <p:nvGrpSpPr>
          <p:cNvPr id="37" name="Group 36">
            <a:extLst>
              <a:ext uri="{FF2B5EF4-FFF2-40B4-BE49-F238E27FC236}">
                <a16:creationId xmlns:a16="http://schemas.microsoft.com/office/drawing/2014/main" id="{648643B2-D5B2-4888-8F52-0ADD9A764323}"/>
              </a:ext>
            </a:extLst>
          </p:cNvPr>
          <p:cNvGrpSpPr/>
          <p:nvPr/>
        </p:nvGrpSpPr>
        <p:grpSpPr>
          <a:xfrm>
            <a:off x="6998442" y="3859732"/>
            <a:ext cx="601490" cy="404043"/>
            <a:chOff x="7065169" y="3846497"/>
            <a:chExt cx="601490" cy="404043"/>
          </a:xfrm>
        </p:grpSpPr>
        <p:grpSp>
          <p:nvGrpSpPr>
            <p:cNvPr id="46" name="Group 45">
              <a:extLst>
                <a:ext uri="{FF2B5EF4-FFF2-40B4-BE49-F238E27FC236}">
                  <a16:creationId xmlns:a16="http://schemas.microsoft.com/office/drawing/2014/main" id="{C6D63FBA-A9DF-4C7F-AB11-79DB73F39A9C}"/>
                </a:ext>
              </a:extLst>
            </p:cNvPr>
            <p:cNvGrpSpPr/>
            <p:nvPr/>
          </p:nvGrpSpPr>
          <p:grpSpPr>
            <a:xfrm>
              <a:off x="7070395" y="3846497"/>
              <a:ext cx="596264" cy="404043"/>
              <a:chOff x="5934075" y="2157413"/>
              <a:chExt cx="3035025" cy="2620513"/>
            </a:xfrm>
          </p:grpSpPr>
          <p:sp>
            <p:nvSpPr>
              <p:cNvPr id="51" name="Rectangle 50">
                <a:extLst>
                  <a:ext uri="{FF2B5EF4-FFF2-40B4-BE49-F238E27FC236}">
                    <a16:creationId xmlns:a16="http://schemas.microsoft.com/office/drawing/2014/main" id="{BE7DB5ED-309C-4C4F-9861-17722D4202CF}"/>
                  </a:ext>
                </a:extLst>
              </p:cNvPr>
              <p:cNvSpPr/>
              <p:nvPr/>
            </p:nvSpPr>
            <p:spPr>
              <a:xfrm>
                <a:off x="5934075" y="2246412"/>
                <a:ext cx="2955375" cy="2531513"/>
              </a:xfrm>
              <a:prstGeom prst="rect">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cxnSp>
            <p:nvCxnSpPr>
              <p:cNvPr id="52" name="Straight Arrow Connector 51">
                <a:extLst>
                  <a:ext uri="{FF2B5EF4-FFF2-40B4-BE49-F238E27FC236}">
                    <a16:creationId xmlns:a16="http://schemas.microsoft.com/office/drawing/2014/main" id="{3F39028C-51C4-4071-9E60-B45C7A801967}"/>
                  </a:ext>
                </a:extLst>
              </p:cNvPr>
              <p:cNvCxnSpPr>
                <a:cxnSpLocks/>
              </p:cNvCxnSpPr>
              <p:nvPr/>
            </p:nvCxnSpPr>
            <p:spPr>
              <a:xfrm flipV="1">
                <a:off x="5934075" y="2157413"/>
                <a:ext cx="0" cy="2620513"/>
              </a:xfrm>
              <a:prstGeom prst="straightConnector1">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6A7C75E1-DE8B-4F7C-AAD8-0DF14C6069A3}"/>
                  </a:ext>
                </a:extLst>
              </p:cNvPr>
              <p:cNvCxnSpPr>
                <a:cxnSpLocks/>
              </p:cNvCxnSpPr>
              <p:nvPr/>
            </p:nvCxnSpPr>
            <p:spPr>
              <a:xfrm flipV="1">
                <a:off x="5934075" y="4777925"/>
                <a:ext cx="3035025" cy="1"/>
              </a:xfrm>
              <a:prstGeom prst="straightConnector1">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grpSp>
        <p:sp>
          <p:nvSpPr>
            <p:cNvPr id="32" name="Freeform: Shape 31">
              <a:extLst>
                <a:ext uri="{FF2B5EF4-FFF2-40B4-BE49-F238E27FC236}">
                  <a16:creationId xmlns:a16="http://schemas.microsoft.com/office/drawing/2014/main" id="{8547118E-44F8-48A6-A247-69824D08D22A}"/>
                </a:ext>
              </a:extLst>
            </p:cNvPr>
            <p:cNvSpPr/>
            <p:nvPr/>
          </p:nvSpPr>
          <p:spPr>
            <a:xfrm>
              <a:off x="7065169" y="3901251"/>
              <a:ext cx="584200" cy="342900"/>
            </a:xfrm>
            <a:custGeom>
              <a:avLst/>
              <a:gdLst>
                <a:gd name="connsiteX0" fmla="*/ 0 w 584200"/>
                <a:gd name="connsiteY0" fmla="*/ 342900 h 342900"/>
                <a:gd name="connsiteX1" fmla="*/ 304800 w 584200"/>
                <a:gd name="connsiteY1" fmla="*/ 85725 h 342900"/>
                <a:gd name="connsiteX2" fmla="*/ 584200 w 584200"/>
                <a:gd name="connsiteY2" fmla="*/ 0 h 342900"/>
              </a:gdLst>
              <a:ahLst/>
              <a:cxnLst>
                <a:cxn ang="0">
                  <a:pos x="connsiteX0" y="connsiteY0"/>
                </a:cxn>
                <a:cxn ang="0">
                  <a:pos x="connsiteX1" y="connsiteY1"/>
                </a:cxn>
                <a:cxn ang="0">
                  <a:pos x="connsiteX2" y="connsiteY2"/>
                </a:cxn>
              </a:cxnLst>
              <a:rect l="l" t="t" r="r" b="b"/>
              <a:pathLst>
                <a:path w="584200" h="342900">
                  <a:moveTo>
                    <a:pt x="0" y="342900"/>
                  </a:moveTo>
                  <a:cubicBezTo>
                    <a:pt x="103716" y="242887"/>
                    <a:pt x="207433" y="142875"/>
                    <a:pt x="304800" y="85725"/>
                  </a:cubicBezTo>
                  <a:cubicBezTo>
                    <a:pt x="402167" y="28575"/>
                    <a:pt x="493183" y="14287"/>
                    <a:pt x="584200" y="0"/>
                  </a:cubicBezTo>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48" name="Straight Connector 47">
              <a:extLst>
                <a:ext uri="{FF2B5EF4-FFF2-40B4-BE49-F238E27FC236}">
                  <a16:creationId xmlns:a16="http://schemas.microsoft.com/office/drawing/2014/main" id="{F3DBE1F4-67E3-4AC6-9C8E-DA866AC44E34}"/>
                </a:ext>
              </a:extLst>
            </p:cNvPr>
            <p:cNvCxnSpPr>
              <a:cxnSpLocks/>
            </p:cNvCxnSpPr>
            <p:nvPr/>
          </p:nvCxnSpPr>
          <p:spPr>
            <a:xfrm flipV="1">
              <a:off x="7091363" y="3867120"/>
              <a:ext cx="438150" cy="309562"/>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69A02FE-DD90-401E-9827-B1B995EEF351}"/>
                  </a:ext>
                </a:extLst>
              </p:cNvPr>
              <p:cNvSpPr txBox="1"/>
              <p:nvPr/>
            </p:nvSpPr>
            <p:spPr>
              <a:xfrm>
                <a:off x="7006663" y="3735431"/>
                <a:ext cx="545149" cy="2255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800" i="1" smtClean="0">
                              <a:latin typeface="Cambria Math" panose="02040503050406030204" pitchFamily="18" charset="0"/>
                            </a:rPr>
                          </m:ctrlPr>
                        </m:sSubPr>
                        <m:e>
                          <m:r>
                            <a:rPr lang="de-DE" sz="800" i="1" smtClean="0">
                              <a:latin typeface="Cambria Math" panose="02040503050406030204" pitchFamily="18" charset="0"/>
                              <a:ea typeface="Cambria Math" panose="02040503050406030204" pitchFamily="18" charset="0"/>
                            </a:rPr>
                            <m:t>∆</m:t>
                          </m:r>
                        </m:e>
                        <m:sub>
                          <m:r>
                            <a:rPr lang="en-GB" sz="800" b="0" i="1" smtClean="0">
                              <a:latin typeface="Cambria Math" panose="02040503050406030204" pitchFamily="18" charset="0"/>
                            </a:rPr>
                            <m:t>𝑏𝑢𝑑𝑔𝑒𝑡</m:t>
                          </m:r>
                        </m:sub>
                      </m:sSub>
                    </m:oMath>
                  </m:oMathPara>
                </a14:m>
                <a:endParaRPr lang="en-DE" sz="800" dirty="0"/>
              </a:p>
            </p:txBody>
          </p:sp>
        </mc:Choice>
        <mc:Fallback xmlns="">
          <p:sp>
            <p:nvSpPr>
              <p:cNvPr id="59" name="TextBox 58">
                <a:extLst>
                  <a:ext uri="{FF2B5EF4-FFF2-40B4-BE49-F238E27FC236}">
                    <a16:creationId xmlns:a16="http://schemas.microsoft.com/office/drawing/2014/main" id="{669A02FE-DD90-401E-9827-B1B995EEF351}"/>
                  </a:ext>
                </a:extLst>
              </p:cNvPr>
              <p:cNvSpPr txBox="1">
                <a:spLocks noRot="1" noChangeAspect="1" noMove="1" noResize="1" noEditPoints="1" noAdjustHandles="1" noChangeArrowheads="1" noChangeShapeType="1" noTextEdit="1"/>
              </p:cNvSpPr>
              <p:nvPr/>
            </p:nvSpPr>
            <p:spPr>
              <a:xfrm>
                <a:off x="7006663" y="3735431"/>
                <a:ext cx="545149" cy="225575"/>
              </a:xfrm>
              <a:prstGeom prst="rect">
                <a:avLst/>
              </a:prstGeom>
              <a:blipFill>
                <a:blip r:embed="rId4"/>
                <a:stretch>
                  <a:fillRect/>
                </a:stretch>
              </a:blipFill>
            </p:spPr>
            <p:txBody>
              <a:bodyPr/>
              <a:lstStyle/>
              <a:p>
                <a:r>
                  <a:rPr lang="en-DE">
                    <a:noFill/>
                  </a:rPr>
                  <a:t> </a:t>
                </a:r>
              </a:p>
            </p:txBody>
          </p:sp>
        </mc:Fallback>
      </mc:AlternateContent>
    </p:spTree>
    <p:extLst>
      <p:ext uri="{BB962C8B-B14F-4D97-AF65-F5344CB8AC3E}">
        <p14:creationId xmlns:p14="http://schemas.microsoft.com/office/powerpoint/2010/main" val="332761433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400</Words>
  <Application>Microsoft Office PowerPoint</Application>
  <PresentationFormat>Bildschirmpräsentation (16:9)</PresentationFormat>
  <Paragraphs>37</Paragraphs>
  <Slides>3</Slides>
  <Notes>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3</vt:i4>
      </vt:variant>
    </vt:vector>
  </HeadingPairs>
  <TitlesOfParts>
    <vt:vector size="6" baseType="lpstr">
      <vt:lpstr>Arial</vt:lpstr>
      <vt:lpstr>Cambria Math</vt:lpstr>
      <vt:lpstr>Simple Light</vt:lpstr>
      <vt:lpstr>Gradient Ascent</vt:lpstr>
      <vt:lpstr>At a Glance</vt:lpstr>
      <vt:lpstr>The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Guild</dc:title>
  <dc:creator>frank</dc:creator>
  <cp:lastModifiedBy>Frank Trollmann</cp:lastModifiedBy>
  <cp:revision>166</cp:revision>
  <dcterms:modified xsi:type="dcterms:W3CDTF">2024-11-25T13:26:20Z</dcterms:modified>
</cp:coreProperties>
</file>