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5"/>
  </p:notesMasterIdLst>
  <p:sldIdLst>
    <p:sldId id="256" r:id="rId2"/>
    <p:sldId id="549" r:id="rId3"/>
    <p:sldId id="323" r:id="rId4"/>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Intro" id="{30F4F0D8-8C7C-41AE-8DEC-4844DFF66746}">
          <p14:sldIdLst>
            <p14:sldId id="256"/>
            <p14:sldId id="549"/>
            <p14:sldId id="323"/>
          </p14:sldIdLst>
        </p14:section>
        <p14:section name="What is AI?" id="{CADD6ED0-27FA-4264-8929-7A5C70AB7C72}">
          <p14:sldIdLst/>
        </p14:section>
        <p14:section name="Organization" id="{D2F54325-5552-468B-A997-92AEC2A38CB6}">
          <p14:sldIdLst/>
        </p14:section>
      </p14:sectionLst>
    </p:ex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8F200"/>
    <a:srgbClr val="FFFF3F"/>
    <a:srgbClr val="EEF315"/>
    <a:srgbClr val="F2F650"/>
    <a:srgbClr val="FFFF5B"/>
    <a:srgbClr val="00680A"/>
    <a:srgbClr val="54E503"/>
    <a:srgbClr val="5D42F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42234AE-99F9-4D7F-B481-95345871E2B3}">
  <a:tblStyle styleId="{842234AE-99F9-4D7F-B481-95345871E2B3}"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636" autoAdjust="0"/>
    <p:restoredTop sz="50411" autoAdjust="0"/>
  </p:normalViewPr>
  <p:slideViewPr>
    <p:cSldViewPr snapToGrid="0">
      <p:cViewPr varScale="1">
        <p:scale>
          <a:sx n="73" d="100"/>
          <a:sy n="73" d="100"/>
        </p:scale>
        <p:origin x="2808" y="66"/>
      </p:cViewPr>
      <p:guideLst>
        <p:guide orient="horz" pos="1620"/>
        <p:guide pos="2880"/>
      </p:guideLst>
    </p:cSldViewPr>
  </p:slideViewPr>
  <p:notesTextViewPr>
    <p:cViewPr>
      <p:scale>
        <a:sx n="150" d="100"/>
        <a:sy n="15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g5feb945c3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 name="Google Shape;130;g5feb945c3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3019598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g5feb945c3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 name="Google Shape;130;g5feb945c3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The algorithm walks around in the state space, always trying to walk to a better neighbour. It is initialized with a starting point. From there, it looks at all neighbours and chooses the best one to walk to. This is repeated until there is no way to improve. Visualized in a search space, this means  the algorithm always moves uphill until it is at a peak. This is where the name “Hill Climbing” comes from.</a:t>
            </a:r>
          </a:p>
          <a:p>
            <a:pPr marL="0" lvl="0" indent="0" algn="l" rtl="0">
              <a:spcBef>
                <a:spcPts val="0"/>
              </a:spcBef>
              <a:spcAft>
                <a:spcPts val="0"/>
              </a:spcAft>
              <a:buNone/>
            </a:pPr>
            <a:endParaRPr lang="en-GB" dirty="0"/>
          </a:p>
          <a:p>
            <a:pPr marL="0" lvl="0" indent="0" algn="l" rtl="0">
              <a:spcBef>
                <a:spcPts val="0"/>
              </a:spcBef>
              <a:spcAft>
                <a:spcPts val="0"/>
              </a:spcAft>
              <a:buNone/>
            </a:pPr>
            <a:endParaRPr lang="en-US" dirty="0"/>
          </a:p>
          <a:p>
            <a:pPr marL="0" lvl="0" indent="0" algn="l" rtl="0">
              <a:spcBef>
                <a:spcPts val="0"/>
              </a:spcBef>
              <a:spcAft>
                <a:spcPts val="0"/>
              </a:spcAft>
              <a:buNone/>
            </a:pPr>
            <a:r>
              <a:rPr lang="en-US" dirty="0"/>
              <a:t>In more detail, this is algorithm works as follows:</a:t>
            </a:r>
          </a:p>
          <a:p>
            <a:pPr marL="228600" lvl="0" indent="-228600" algn="l" rtl="0">
              <a:spcBef>
                <a:spcPts val="0"/>
              </a:spcBef>
              <a:spcAft>
                <a:spcPts val="0"/>
              </a:spcAft>
              <a:buAutoNum type="arabicParenR"/>
            </a:pPr>
            <a:r>
              <a:rPr lang="en-US" dirty="0"/>
              <a:t>Start from the current point and search for all neighbors. The easiest way to determine neighbors is to look at the previous and next value of each dimension. E.g., in a two-dimensional space, like the one visualized on the slide, the neighbors of the point (500,300) are (499,300) and (501,300) for the first parameter and (500,299) and (500,301) for the second parameters. These are the four points in the visualization. It is possible to define the neighborhood differently, e.g., by combining changes of the parameters (e.g., including the point (501,301) into the neighborhood) or by making bigger steps.</a:t>
            </a:r>
          </a:p>
          <a:p>
            <a:pPr marL="228600" lvl="0" indent="-228600" algn="l" rtl="0">
              <a:spcBef>
                <a:spcPts val="0"/>
              </a:spcBef>
              <a:spcAft>
                <a:spcPts val="0"/>
              </a:spcAft>
              <a:buAutoNum type="arabicParenR"/>
            </a:pPr>
            <a:r>
              <a:rPr lang="en-US" dirty="0"/>
              <a:t>Finding the best neighbor is a matter of iterating over all neighbors and remembering the best one. If no neighbor is better than the current point, then the algorithm is finished. </a:t>
            </a:r>
          </a:p>
          <a:p>
            <a:pPr marL="228600" lvl="0" indent="-228600" algn="l" rtl="0">
              <a:spcBef>
                <a:spcPts val="0"/>
              </a:spcBef>
              <a:spcAft>
                <a:spcPts val="0"/>
              </a:spcAft>
              <a:buAutoNum type="arabicParenR"/>
            </a:pPr>
            <a:r>
              <a:rPr lang="en-US" dirty="0"/>
              <a:t>If we’re not finished, we repeat from step 1 with the best neighbor as new starting point.</a:t>
            </a:r>
          </a:p>
        </p:txBody>
      </p:sp>
    </p:spTree>
    <p:extLst>
      <p:ext uri="{BB962C8B-B14F-4D97-AF65-F5344CB8AC3E}">
        <p14:creationId xmlns:p14="http://schemas.microsoft.com/office/powerpoint/2010/main" val="41346880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‹Nr.›</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‹Nr.›</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‹Nr.›</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‹Nr.›</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‹Nr.›</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‹Nr.›</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‹Nr.›</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‹Nr.›</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‹Nr.›</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1600"/>
              </a:spcBef>
              <a:spcAft>
                <a:spcPts val="0"/>
              </a:spcAft>
              <a:buClr>
                <a:schemeClr val="dk2"/>
              </a:buClr>
              <a:buSzPts val="1400"/>
              <a:buChar char="○"/>
              <a:defRPr>
                <a:solidFill>
                  <a:schemeClr val="dk2"/>
                </a:solidFill>
              </a:defRPr>
            </a:lvl2pPr>
            <a:lvl3pPr marL="1371600" lvl="2" indent="-317500">
              <a:lnSpc>
                <a:spcPct val="115000"/>
              </a:lnSpc>
              <a:spcBef>
                <a:spcPts val="1600"/>
              </a:spcBef>
              <a:spcAft>
                <a:spcPts val="0"/>
              </a:spcAft>
              <a:buClr>
                <a:schemeClr val="dk2"/>
              </a:buClr>
              <a:buSzPts val="1400"/>
              <a:buChar char="■"/>
              <a:defRPr>
                <a:solidFill>
                  <a:schemeClr val="dk2"/>
                </a:solidFill>
              </a:defRPr>
            </a:lvl3pPr>
            <a:lvl4pPr marL="1828800" lvl="3" indent="-317500">
              <a:lnSpc>
                <a:spcPct val="115000"/>
              </a:lnSpc>
              <a:spcBef>
                <a:spcPts val="1600"/>
              </a:spcBef>
              <a:spcAft>
                <a:spcPts val="0"/>
              </a:spcAft>
              <a:buClr>
                <a:schemeClr val="dk2"/>
              </a:buClr>
              <a:buSzPts val="1400"/>
              <a:buChar char="●"/>
              <a:defRPr>
                <a:solidFill>
                  <a:schemeClr val="dk2"/>
                </a:solidFill>
              </a:defRPr>
            </a:lvl4pPr>
            <a:lvl5pPr marL="2286000" lvl="4" indent="-317500">
              <a:lnSpc>
                <a:spcPct val="115000"/>
              </a:lnSpc>
              <a:spcBef>
                <a:spcPts val="1600"/>
              </a:spcBef>
              <a:spcAft>
                <a:spcPts val="0"/>
              </a:spcAft>
              <a:buClr>
                <a:schemeClr val="dk2"/>
              </a:buClr>
              <a:buSzPts val="1400"/>
              <a:buChar char="○"/>
              <a:defRPr>
                <a:solidFill>
                  <a:schemeClr val="dk2"/>
                </a:solidFill>
              </a:defRPr>
            </a:lvl5pPr>
            <a:lvl6pPr marL="2743200" lvl="5" indent="-317500">
              <a:lnSpc>
                <a:spcPct val="115000"/>
              </a:lnSpc>
              <a:spcBef>
                <a:spcPts val="1600"/>
              </a:spcBef>
              <a:spcAft>
                <a:spcPts val="0"/>
              </a:spcAft>
              <a:buClr>
                <a:schemeClr val="dk2"/>
              </a:buClr>
              <a:buSzPts val="1400"/>
              <a:buChar char="■"/>
              <a:defRPr>
                <a:solidFill>
                  <a:schemeClr val="dk2"/>
                </a:solidFill>
              </a:defRPr>
            </a:lvl6pPr>
            <a:lvl7pPr marL="3200400" lvl="6" indent="-317500">
              <a:lnSpc>
                <a:spcPct val="115000"/>
              </a:lnSpc>
              <a:spcBef>
                <a:spcPts val="1600"/>
              </a:spcBef>
              <a:spcAft>
                <a:spcPts val="0"/>
              </a:spcAft>
              <a:buClr>
                <a:schemeClr val="dk2"/>
              </a:buClr>
              <a:buSzPts val="1400"/>
              <a:buChar char="●"/>
              <a:defRPr>
                <a:solidFill>
                  <a:schemeClr val="dk2"/>
                </a:solidFill>
              </a:defRPr>
            </a:lvl7pPr>
            <a:lvl8pPr marL="3657600" lvl="7" indent="-317500">
              <a:lnSpc>
                <a:spcPct val="115000"/>
              </a:lnSpc>
              <a:spcBef>
                <a:spcPts val="1600"/>
              </a:spcBef>
              <a:spcAft>
                <a:spcPts val="0"/>
              </a:spcAft>
              <a:buClr>
                <a:schemeClr val="dk2"/>
              </a:buClr>
              <a:buSzPts val="1400"/>
              <a:buChar char="○"/>
              <a:defRPr>
                <a:solidFill>
                  <a:schemeClr val="dk2"/>
                </a:solidFill>
              </a:defRPr>
            </a:lvl8pPr>
            <a:lvl9pPr marL="4114800" lvl="8" indent="-317500">
              <a:lnSpc>
                <a:spcPct val="115000"/>
              </a:lnSpc>
              <a:spcBef>
                <a:spcPts val="1600"/>
              </a:spcBef>
              <a:spcAft>
                <a:spcPts val="160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‹Nr.›</a:t>
            </a:fld>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2" r:id="rId3"/>
    <p:sldLayoutId id="2147483653" r:id="rId4"/>
    <p:sldLayoutId id="2147483654" r:id="rId5"/>
    <p:sldLayoutId id="2147483655" r:id="rId6"/>
    <p:sldLayoutId id="2147483656" r:id="rId7"/>
    <p:sldLayoutId id="2147483657" r:id="rId8"/>
    <p:sldLayoutId id="2147483658"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4" name="Rectangle 3">
            <a:extLst>
              <a:ext uri="{FF2B5EF4-FFF2-40B4-BE49-F238E27FC236}">
                <a16:creationId xmlns:a16="http://schemas.microsoft.com/office/drawing/2014/main" id="{A5908B0A-9B36-41BD-B94D-F717BEA47C56}"/>
              </a:ext>
            </a:extLst>
          </p:cNvPr>
          <p:cNvSpPr/>
          <p:nvPr/>
        </p:nvSpPr>
        <p:spPr>
          <a:xfrm>
            <a:off x="-1" y="0"/>
            <a:ext cx="9144001" cy="5143500"/>
          </a:xfrm>
          <a:prstGeom prst="rect">
            <a:avLst/>
          </a:prstGeom>
          <a:gradFill>
            <a:gsLst>
              <a:gs pos="100000">
                <a:srgbClr val="F8F200"/>
              </a:gs>
              <a:gs pos="0">
                <a:srgbClr val="F4F76D"/>
              </a:gs>
            </a:gsLst>
            <a:lin ang="5400000" scaled="1"/>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DE" sz="3200" dirty="0">
              <a:solidFill>
                <a:schemeClr val="tx1"/>
              </a:solidFill>
            </a:endParaRPr>
          </a:p>
        </p:txBody>
      </p:sp>
      <p:sp>
        <p:nvSpPr>
          <p:cNvPr id="54" name="Google Shape;54;p13"/>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dirty="0"/>
              <a:t>Hill Climbing</a:t>
            </a:r>
            <a:endParaRPr lang="de-DE" dirty="0"/>
          </a:p>
        </p:txBody>
      </p:sp>
      <p:sp>
        <p:nvSpPr>
          <p:cNvPr id="55" name="Google Shape;55;p13"/>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solidFill>
                  <a:schemeClr val="tx1"/>
                </a:solidFill>
              </a:rPr>
              <a:t>A Basic Optimization Algorithm</a:t>
            </a:r>
            <a:endParaRPr dirty="0">
              <a:solidFill>
                <a:schemeClr val="tx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5" name="Rectangle 4">
            <a:extLst>
              <a:ext uri="{FF2B5EF4-FFF2-40B4-BE49-F238E27FC236}">
                <a16:creationId xmlns:a16="http://schemas.microsoft.com/office/drawing/2014/main" id="{231A019D-B1C7-4514-9CEC-5F129AD83145}"/>
              </a:ext>
            </a:extLst>
          </p:cNvPr>
          <p:cNvSpPr/>
          <p:nvPr/>
        </p:nvSpPr>
        <p:spPr>
          <a:xfrm>
            <a:off x="-1" y="0"/>
            <a:ext cx="9144001" cy="5143500"/>
          </a:xfrm>
          <a:prstGeom prst="rect">
            <a:avLst/>
          </a:prstGeom>
          <a:gradFill>
            <a:gsLst>
              <a:gs pos="100000">
                <a:srgbClr val="F8F200"/>
              </a:gs>
              <a:gs pos="0">
                <a:srgbClr val="F4F76D"/>
              </a:gs>
            </a:gsLst>
            <a:lin ang="5400000" scaled="1"/>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DE" sz="3200" dirty="0">
              <a:solidFill>
                <a:schemeClr val="tx1"/>
              </a:solidFill>
            </a:endParaRPr>
          </a:p>
        </p:txBody>
      </p:sp>
      <p:sp>
        <p:nvSpPr>
          <p:cNvPr id="132" name="Google Shape;132;p26"/>
          <p:cNvSpPr txBox="1">
            <a:spLocks noGrp="1"/>
          </p:cNvSpPr>
          <p:nvPr>
            <p:ph type="title"/>
          </p:nvPr>
        </p:nvSpPr>
        <p:spPr>
          <a:xfrm>
            <a:off x="311700" y="1941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At a Glance</a:t>
            </a:r>
            <a:endParaRPr dirty="0"/>
          </a:p>
        </p:txBody>
      </p:sp>
      <p:sp>
        <p:nvSpPr>
          <p:cNvPr id="133" name="Google Shape;133;p26"/>
          <p:cNvSpPr txBox="1">
            <a:spLocks noGrp="1"/>
          </p:cNvSpPr>
          <p:nvPr>
            <p:ph type="body" idx="1"/>
          </p:nvPr>
        </p:nvSpPr>
        <p:spPr>
          <a:xfrm>
            <a:off x="311700" y="854550"/>
            <a:ext cx="8520600" cy="4289100"/>
          </a:xfrm>
          <a:prstGeom prst="rect">
            <a:avLst/>
          </a:prstGeom>
        </p:spPr>
        <p:txBody>
          <a:bodyPr spcFirstLastPara="1" wrap="square" lIns="91425" tIns="91425" rIns="91425" bIns="91425" anchor="t" anchorCtr="0">
            <a:noAutofit/>
          </a:bodyPr>
          <a:lstStyle/>
          <a:p>
            <a:pPr marL="114300" lvl="0" indent="0" algn="l" rtl="0">
              <a:spcBef>
                <a:spcPts val="0"/>
              </a:spcBef>
              <a:spcAft>
                <a:spcPts val="0"/>
              </a:spcAft>
              <a:buSzPts val="1800"/>
              <a:buNone/>
            </a:pPr>
            <a:endParaRPr lang="en-US" b="1" dirty="0">
              <a:solidFill>
                <a:schemeClr val="tx1"/>
              </a:solidFill>
            </a:endParaRPr>
          </a:p>
          <a:p>
            <a:pPr marL="114300" lvl="0" indent="0" algn="l" rtl="0">
              <a:spcBef>
                <a:spcPts val="0"/>
              </a:spcBef>
              <a:spcAft>
                <a:spcPts val="0"/>
              </a:spcAft>
              <a:buSzPts val="1800"/>
              <a:buNone/>
            </a:pPr>
            <a:r>
              <a:rPr lang="en-US" b="1" dirty="0">
                <a:solidFill>
                  <a:schemeClr val="tx1"/>
                </a:solidFill>
              </a:rPr>
              <a:t>Applicability</a:t>
            </a:r>
            <a:r>
              <a:rPr lang="en-US" dirty="0">
                <a:solidFill>
                  <a:schemeClr val="tx1"/>
                </a:solidFill>
              </a:rPr>
              <a:t>: Discrete Optimization Problems</a:t>
            </a:r>
          </a:p>
          <a:p>
            <a:pPr marL="114300" lvl="0" indent="0" algn="l" rtl="0">
              <a:spcBef>
                <a:spcPts val="0"/>
              </a:spcBef>
              <a:spcAft>
                <a:spcPts val="0"/>
              </a:spcAft>
              <a:buSzPts val="1800"/>
              <a:buNone/>
            </a:pPr>
            <a:endParaRPr lang="en-GB" dirty="0">
              <a:solidFill>
                <a:schemeClr val="tx1"/>
              </a:solidFill>
            </a:endParaRPr>
          </a:p>
          <a:p>
            <a:pPr marL="114300" lvl="0" indent="0" algn="l" rtl="0">
              <a:spcBef>
                <a:spcPts val="0"/>
              </a:spcBef>
              <a:spcAft>
                <a:spcPts val="0"/>
              </a:spcAft>
              <a:buSzPts val="1800"/>
              <a:buNone/>
            </a:pPr>
            <a:endParaRPr lang="en-GB" dirty="0">
              <a:solidFill>
                <a:schemeClr val="tx1"/>
              </a:solidFill>
            </a:endParaRPr>
          </a:p>
          <a:p>
            <a:pPr marL="114300" lvl="0" indent="0" algn="l" rtl="0">
              <a:spcBef>
                <a:spcPts val="0"/>
              </a:spcBef>
              <a:spcAft>
                <a:spcPts val="0"/>
              </a:spcAft>
              <a:buSzPts val="1800"/>
              <a:buNone/>
            </a:pPr>
            <a:r>
              <a:rPr lang="en-GB" b="1" dirty="0">
                <a:solidFill>
                  <a:schemeClr val="tx1"/>
                </a:solidFill>
              </a:rPr>
              <a:t>Abstract Description:</a:t>
            </a:r>
            <a:r>
              <a:rPr lang="en-GB" dirty="0">
                <a:solidFill>
                  <a:schemeClr val="tx1"/>
                </a:solidFill>
              </a:rPr>
              <a:t> Start at one point, go towards the best neighbour, repeat. </a:t>
            </a:r>
          </a:p>
          <a:p>
            <a:pPr marL="114300" lvl="0" indent="0" algn="l" rtl="0">
              <a:spcBef>
                <a:spcPts val="0"/>
              </a:spcBef>
              <a:spcAft>
                <a:spcPts val="0"/>
              </a:spcAft>
              <a:buSzPts val="1800"/>
              <a:buNone/>
            </a:pPr>
            <a:endParaRPr lang="en-GB" dirty="0">
              <a:solidFill>
                <a:schemeClr val="tx1"/>
              </a:solidFill>
            </a:endParaRPr>
          </a:p>
          <a:p>
            <a:pPr marL="114300" lvl="0" indent="0" algn="l" rtl="0">
              <a:spcBef>
                <a:spcPts val="0"/>
              </a:spcBef>
              <a:spcAft>
                <a:spcPts val="0"/>
              </a:spcAft>
              <a:buSzPts val="1800"/>
              <a:buNone/>
            </a:pPr>
            <a:r>
              <a:rPr lang="en-GB" b="1" dirty="0">
                <a:solidFill>
                  <a:schemeClr val="tx1"/>
                </a:solidFill>
              </a:rPr>
              <a:t>Parameters:</a:t>
            </a:r>
          </a:p>
          <a:p>
            <a:pPr>
              <a:buClrTx/>
            </a:pPr>
            <a:r>
              <a:rPr lang="en-GB" sz="1600" dirty="0">
                <a:solidFill>
                  <a:schemeClr val="tx1"/>
                </a:solidFill>
              </a:rPr>
              <a:t>Starting point: Which point to start on?</a:t>
            </a:r>
          </a:p>
          <a:p>
            <a:pPr>
              <a:buClrTx/>
            </a:pPr>
            <a:r>
              <a:rPr lang="en-GB" sz="1600" dirty="0">
                <a:solidFill>
                  <a:schemeClr val="tx1"/>
                </a:solidFill>
              </a:rPr>
              <a:t>Neighbours: Which points are considered neighbours?</a:t>
            </a:r>
          </a:p>
          <a:p>
            <a:pPr marL="114300" lvl="0" indent="0" algn="l" rtl="0">
              <a:spcBef>
                <a:spcPts val="0"/>
              </a:spcBef>
              <a:spcAft>
                <a:spcPts val="0"/>
              </a:spcAft>
              <a:buSzPts val="1800"/>
              <a:buNone/>
            </a:pPr>
            <a:endParaRPr lang="en-GB" dirty="0">
              <a:solidFill>
                <a:schemeClr val="tx1"/>
              </a:solidFill>
            </a:endParaRPr>
          </a:p>
          <a:p>
            <a:pPr marL="114300" lvl="0" indent="0" algn="l" rtl="0">
              <a:spcBef>
                <a:spcPts val="0"/>
              </a:spcBef>
              <a:spcAft>
                <a:spcPts val="0"/>
              </a:spcAft>
              <a:buSzPts val="1800"/>
              <a:buNone/>
            </a:pPr>
            <a:endParaRPr dirty="0">
              <a:solidFill>
                <a:schemeClr val="tx1"/>
              </a:solidFill>
            </a:endParaRPr>
          </a:p>
        </p:txBody>
      </p:sp>
      <p:sp>
        <p:nvSpPr>
          <p:cNvPr id="2" name="Rectangle 1">
            <a:extLst>
              <a:ext uri="{FF2B5EF4-FFF2-40B4-BE49-F238E27FC236}">
                <a16:creationId xmlns:a16="http://schemas.microsoft.com/office/drawing/2014/main" id="{4AF8C422-3FD3-46ED-984E-AB49D01DB69A}"/>
              </a:ext>
            </a:extLst>
          </p:cNvPr>
          <p:cNvSpPr/>
          <p:nvPr/>
        </p:nvSpPr>
        <p:spPr>
          <a:xfrm>
            <a:off x="4454820" y="2417862"/>
            <a:ext cx="234360" cy="307777"/>
          </a:xfrm>
          <a:prstGeom prst="rect">
            <a:avLst/>
          </a:prstGeom>
        </p:spPr>
        <p:txBody>
          <a:bodyPr wrap="none">
            <a:spAutoFit/>
          </a:bodyPr>
          <a:lstStyle/>
          <a:p>
            <a:r>
              <a:rPr lang="en-DE" dirty="0"/>
              <a:t> </a:t>
            </a:r>
          </a:p>
        </p:txBody>
      </p:sp>
    </p:spTree>
    <p:extLst>
      <p:ext uri="{BB962C8B-B14F-4D97-AF65-F5344CB8AC3E}">
        <p14:creationId xmlns:p14="http://schemas.microsoft.com/office/powerpoint/2010/main" val="21985555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3">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3">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5" name="Rectangle 4">
            <a:extLst>
              <a:ext uri="{FF2B5EF4-FFF2-40B4-BE49-F238E27FC236}">
                <a16:creationId xmlns:a16="http://schemas.microsoft.com/office/drawing/2014/main" id="{231A019D-B1C7-4514-9CEC-5F129AD83145}"/>
              </a:ext>
            </a:extLst>
          </p:cNvPr>
          <p:cNvSpPr/>
          <p:nvPr/>
        </p:nvSpPr>
        <p:spPr>
          <a:xfrm>
            <a:off x="30956" y="0"/>
            <a:ext cx="9144001" cy="5143500"/>
          </a:xfrm>
          <a:prstGeom prst="rect">
            <a:avLst/>
          </a:prstGeom>
          <a:gradFill>
            <a:gsLst>
              <a:gs pos="100000">
                <a:srgbClr val="F8F200"/>
              </a:gs>
              <a:gs pos="0">
                <a:srgbClr val="F4F76D"/>
              </a:gs>
            </a:gsLst>
            <a:lin ang="5400000" scaled="1"/>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DE" sz="3200" dirty="0">
              <a:solidFill>
                <a:schemeClr val="tx1"/>
              </a:solidFill>
            </a:endParaRPr>
          </a:p>
        </p:txBody>
      </p:sp>
      <p:sp>
        <p:nvSpPr>
          <p:cNvPr id="132" name="Google Shape;132;p26"/>
          <p:cNvSpPr txBox="1">
            <a:spLocks noGrp="1"/>
          </p:cNvSpPr>
          <p:nvPr>
            <p:ph type="title"/>
          </p:nvPr>
        </p:nvSpPr>
        <p:spPr>
          <a:xfrm>
            <a:off x="311700" y="1941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The Algorithm</a:t>
            </a:r>
            <a:endParaRPr dirty="0"/>
          </a:p>
        </p:txBody>
      </p:sp>
      <p:sp>
        <p:nvSpPr>
          <p:cNvPr id="133" name="Google Shape;133;p26"/>
          <p:cNvSpPr txBox="1">
            <a:spLocks noGrp="1"/>
          </p:cNvSpPr>
          <p:nvPr>
            <p:ph type="body" idx="1"/>
          </p:nvPr>
        </p:nvSpPr>
        <p:spPr>
          <a:xfrm>
            <a:off x="311700" y="854550"/>
            <a:ext cx="8520600" cy="4289100"/>
          </a:xfrm>
          <a:prstGeom prst="rect">
            <a:avLst/>
          </a:prstGeom>
        </p:spPr>
        <p:txBody>
          <a:bodyPr spcFirstLastPara="1" wrap="square" lIns="91425" tIns="91425" rIns="91425" bIns="91425" anchor="t" anchorCtr="0">
            <a:noAutofit/>
          </a:bodyPr>
          <a:lstStyle/>
          <a:p>
            <a:pPr lvl="0" algn="l" rtl="0">
              <a:spcBef>
                <a:spcPts val="0"/>
              </a:spcBef>
              <a:spcAft>
                <a:spcPts val="0"/>
              </a:spcAft>
              <a:buSzPts val="1800"/>
              <a:buAutoNum type="arabicParenR"/>
            </a:pPr>
            <a:endParaRPr lang="en-GB" dirty="0">
              <a:solidFill>
                <a:schemeClr val="tx1"/>
              </a:solidFill>
            </a:endParaRPr>
          </a:p>
          <a:p>
            <a:pPr lvl="0" algn="l" rtl="0">
              <a:spcBef>
                <a:spcPts val="0"/>
              </a:spcBef>
              <a:spcAft>
                <a:spcPts val="0"/>
              </a:spcAft>
              <a:buClrTx/>
              <a:buSzPts val="1800"/>
              <a:buAutoNum type="arabicParenR"/>
            </a:pPr>
            <a:r>
              <a:rPr lang="en-GB" dirty="0">
                <a:solidFill>
                  <a:schemeClr val="tx1"/>
                </a:solidFill>
              </a:rPr>
              <a:t>Start at a point and find all neighbours</a:t>
            </a:r>
          </a:p>
          <a:p>
            <a:pPr lvl="1">
              <a:spcBef>
                <a:spcPts val="0"/>
              </a:spcBef>
              <a:buClrTx/>
              <a:buSzPts val="1800"/>
            </a:pPr>
            <a:r>
              <a:rPr lang="en-GB" sz="1200" dirty="0">
                <a:solidFill>
                  <a:schemeClr val="tx1"/>
                </a:solidFill>
              </a:rPr>
              <a:t>Traditionally +1 and -1 for each dimension</a:t>
            </a:r>
          </a:p>
          <a:p>
            <a:pPr lvl="1">
              <a:spcBef>
                <a:spcPts val="0"/>
              </a:spcBef>
              <a:buClrTx/>
              <a:buSzPts val="1800"/>
            </a:pPr>
            <a:r>
              <a:rPr lang="en-GB" sz="1200" dirty="0">
                <a:solidFill>
                  <a:schemeClr val="tx1"/>
                </a:solidFill>
              </a:rPr>
              <a:t>Other neighbourhoods also possible</a:t>
            </a:r>
            <a:endParaRPr lang="en-GB" dirty="0">
              <a:solidFill>
                <a:schemeClr val="tx1"/>
              </a:solidFill>
            </a:endParaRPr>
          </a:p>
          <a:p>
            <a:pPr>
              <a:buClrTx/>
              <a:buFont typeface="Arial"/>
              <a:buAutoNum type="arabicParenR"/>
            </a:pPr>
            <a:endParaRPr lang="en-GB" dirty="0">
              <a:solidFill>
                <a:schemeClr val="tx1"/>
              </a:solidFill>
            </a:endParaRPr>
          </a:p>
          <a:p>
            <a:pPr>
              <a:buClrTx/>
              <a:buFont typeface="Arial"/>
              <a:buAutoNum type="arabicParenR"/>
            </a:pPr>
            <a:r>
              <a:rPr lang="en-GB" dirty="0">
                <a:solidFill>
                  <a:schemeClr val="tx1"/>
                </a:solidFill>
              </a:rPr>
              <a:t>Find best neighbour</a:t>
            </a:r>
          </a:p>
          <a:p>
            <a:pPr lvl="1">
              <a:spcBef>
                <a:spcPts val="0"/>
              </a:spcBef>
              <a:buClrTx/>
              <a:buSzPts val="1800"/>
            </a:pPr>
            <a:r>
              <a:rPr lang="en-GB" sz="1200" dirty="0">
                <a:solidFill>
                  <a:schemeClr val="tx1"/>
                </a:solidFill>
              </a:rPr>
              <a:t>If no neighbour is better than the current point, we are finished</a:t>
            </a:r>
          </a:p>
          <a:p>
            <a:pPr>
              <a:buFont typeface="Arial"/>
              <a:buAutoNum type="arabicParenR"/>
            </a:pPr>
            <a:endParaRPr lang="en-GB" dirty="0">
              <a:solidFill>
                <a:schemeClr val="tx1"/>
              </a:solidFill>
            </a:endParaRPr>
          </a:p>
          <a:p>
            <a:pPr>
              <a:buClrTx/>
              <a:buFont typeface="Arial"/>
              <a:buAutoNum type="arabicParenR"/>
            </a:pPr>
            <a:r>
              <a:rPr lang="en-GB" dirty="0">
                <a:solidFill>
                  <a:schemeClr val="tx1"/>
                </a:solidFill>
              </a:rPr>
              <a:t>Move to best neighbour and repeat from 1</a:t>
            </a:r>
          </a:p>
          <a:p>
            <a:pPr marL="596900" lvl="1" indent="0">
              <a:spcBef>
                <a:spcPts val="0"/>
              </a:spcBef>
              <a:buSzPts val="1800"/>
              <a:buNone/>
            </a:pPr>
            <a:endParaRPr lang="en-GB" dirty="0">
              <a:solidFill>
                <a:schemeClr val="tx1"/>
              </a:solidFill>
            </a:endParaRPr>
          </a:p>
          <a:p>
            <a:pPr lvl="1">
              <a:spcBef>
                <a:spcPts val="0"/>
              </a:spcBef>
              <a:buSzPts val="1800"/>
            </a:pPr>
            <a:endParaRPr lang="en-GB" dirty="0">
              <a:solidFill>
                <a:schemeClr val="tx1"/>
              </a:solidFill>
            </a:endParaRPr>
          </a:p>
          <a:p>
            <a:pPr>
              <a:buFont typeface="+mj-lt"/>
              <a:buAutoNum type="arabicParenR"/>
            </a:pPr>
            <a:endParaRPr lang="en-GB" dirty="0">
              <a:solidFill>
                <a:schemeClr val="tx1"/>
              </a:solidFill>
            </a:endParaRPr>
          </a:p>
        </p:txBody>
      </p:sp>
      <p:sp>
        <p:nvSpPr>
          <p:cNvPr id="2" name="Rectangle 1">
            <a:extLst>
              <a:ext uri="{FF2B5EF4-FFF2-40B4-BE49-F238E27FC236}">
                <a16:creationId xmlns:a16="http://schemas.microsoft.com/office/drawing/2014/main" id="{4AF8C422-3FD3-46ED-984E-AB49D01DB69A}"/>
              </a:ext>
            </a:extLst>
          </p:cNvPr>
          <p:cNvSpPr/>
          <p:nvPr/>
        </p:nvSpPr>
        <p:spPr>
          <a:xfrm>
            <a:off x="4454820" y="2417862"/>
            <a:ext cx="234360" cy="307777"/>
          </a:xfrm>
          <a:prstGeom prst="rect">
            <a:avLst/>
          </a:prstGeom>
        </p:spPr>
        <p:txBody>
          <a:bodyPr wrap="none">
            <a:spAutoFit/>
          </a:bodyPr>
          <a:lstStyle/>
          <a:p>
            <a:r>
              <a:rPr lang="en-DE" dirty="0"/>
              <a:t> </a:t>
            </a:r>
          </a:p>
        </p:txBody>
      </p:sp>
      <p:sp>
        <p:nvSpPr>
          <p:cNvPr id="3" name="Rectangle 2">
            <a:extLst>
              <a:ext uri="{FF2B5EF4-FFF2-40B4-BE49-F238E27FC236}">
                <a16:creationId xmlns:a16="http://schemas.microsoft.com/office/drawing/2014/main" id="{99D90051-2A82-4B89-96BE-AC705BF6C9B4}"/>
              </a:ext>
            </a:extLst>
          </p:cNvPr>
          <p:cNvSpPr/>
          <p:nvPr/>
        </p:nvSpPr>
        <p:spPr>
          <a:xfrm>
            <a:off x="5781675" y="2094012"/>
            <a:ext cx="2955375" cy="2531513"/>
          </a:xfrm>
          <a:prstGeom prst="rect">
            <a:avLst/>
          </a:prstGeom>
          <a:solidFill>
            <a:schemeClr val="l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dirty="0"/>
          </a:p>
        </p:txBody>
      </p:sp>
      <p:cxnSp>
        <p:nvCxnSpPr>
          <p:cNvPr id="6" name="Straight Arrow Connector 5">
            <a:extLst>
              <a:ext uri="{FF2B5EF4-FFF2-40B4-BE49-F238E27FC236}">
                <a16:creationId xmlns:a16="http://schemas.microsoft.com/office/drawing/2014/main" id="{04557079-857C-4EB5-8F1B-365704A0D8C0}"/>
              </a:ext>
            </a:extLst>
          </p:cNvPr>
          <p:cNvCxnSpPr>
            <a:cxnSpLocks/>
          </p:cNvCxnSpPr>
          <p:nvPr/>
        </p:nvCxnSpPr>
        <p:spPr>
          <a:xfrm flipV="1">
            <a:off x="5781675" y="2005013"/>
            <a:ext cx="0" cy="2620513"/>
          </a:xfrm>
          <a:prstGeom prst="straightConnector1">
            <a:avLst/>
          </a:prstGeom>
          <a:ln w="25400">
            <a:headEnd w="lg" len="lg"/>
            <a:tailEnd type="triangle"/>
          </a:ln>
        </p:spPr>
        <p:style>
          <a:lnRef idx="1">
            <a:schemeClr val="dk1"/>
          </a:lnRef>
          <a:fillRef idx="0">
            <a:schemeClr val="dk1"/>
          </a:fillRef>
          <a:effectRef idx="0">
            <a:schemeClr val="dk1"/>
          </a:effectRef>
          <a:fontRef idx="minor">
            <a:schemeClr val="tx1"/>
          </a:fontRef>
        </p:style>
      </p:cxnSp>
      <p:cxnSp>
        <p:nvCxnSpPr>
          <p:cNvPr id="10" name="Straight Arrow Connector 9">
            <a:extLst>
              <a:ext uri="{FF2B5EF4-FFF2-40B4-BE49-F238E27FC236}">
                <a16:creationId xmlns:a16="http://schemas.microsoft.com/office/drawing/2014/main" id="{DDFF47AA-A208-4FE6-B83E-5A953A6C37F6}"/>
              </a:ext>
            </a:extLst>
          </p:cNvPr>
          <p:cNvCxnSpPr>
            <a:cxnSpLocks/>
          </p:cNvCxnSpPr>
          <p:nvPr/>
        </p:nvCxnSpPr>
        <p:spPr>
          <a:xfrm flipV="1">
            <a:off x="5781675" y="4625525"/>
            <a:ext cx="3035025" cy="1"/>
          </a:xfrm>
          <a:prstGeom prst="straightConnector1">
            <a:avLst/>
          </a:prstGeom>
          <a:ln w="25400">
            <a:headEnd w="lg" len="lg"/>
            <a:tailEnd type="triangle"/>
          </a:ln>
        </p:spPr>
        <p:style>
          <a:lnRef idx="1">
            <a:schemeClr val="dk1"/>
          </a:lnRef>
          <a:fillRef idx="0">
            <a:schemeClr val="dk1"/>
          </a:fillRef>
          <a:effectRef idx="0">
            <a:schemeClr val="dk1"/>
          </a:effectRef>
          <a:fontRef idx="minor">
            <a:schemeClr val="tx1"/>
          </a:fontRef>
        </p:style>
      </p:cxnSp>
      <p:sp>
        <p:nvSpPr>
          <p:cNvPr id="11" name="TextBox 10">
            <a:extLst>
              <a:ext uri="{FF2B5EF4-FFF2-40B4-BE49-F238E27FC236}">
                <a16:creationId xmlns:a16="http://schemas.microsoft.com/office/drawing/2014/main" id="{259DB2FF-F944-45C1-9065-DAB462AA7CFE}"/>
              </a:ext>
            </a:extLst>
          </p:cNvPr>
          <p:cNvSpPr txBox="1"/>
          <p:nvPr/>
        </p:nvSpPr>
        <p:spPr>
          <a:xfrm rot="16200000">
            <a:off x="5345414" y="1977602"/>
            <a:ext cx="572593" cy="307777"/>
          </a:xfrm>
          <a:prstGeom prst="rect">
            <a:avLst/>
          </a:prstGeom>
          <a:noFill/>
        </p:spPr>
        <p:txBody>
          <a:bodyPr wrap="none" rtlCol="0">
            <a:spAutoFit/>
          </a:bodyPr>
          <a:lstStyle/>
          <a:p>
            <a:r>
              <a:rPr lang="en-GB" dirty="0"/>
              <a:t>price</a:t>
            </a:r>
            <a:endParaRPr lang="en-DE" dirty="0"/>
          </a:p>
        </p:txBody>
      </p:sp>
      <p:sp>
        <p:nvSpPr>
          <p:cNvPr id="14" name="TextBox 13">
            <a:extLst>
              <a:ext uri="{FF2B5EF4-FFF2-40B4-BE49-F238E27FC236}">
                <a16:creationId xmlns:a16="http://schemas.microsoft.com/office/drawing/2014/main" id="{AE7BA4D1-803F-4083-9365-3523E76BFE20}"/>
              </a:ext>
            </a:extLst>
          </p:cNvPr>
          <p:cNvSpPr txBox="1"/>
          <p:nvPr/>
        </p:nvSpPr>
        <p:spPr>
          <a:xfrm>
            <a:off x="8339696" y="4582872"/>
            <a:ext cx="731290" cy="307777"/>
          </a:xfrm>
          <a:prstGeom prst="rect">
            <a:avLst/>
          </a:prstGeom>
          <a:noFill/>
        </p:spPr>
        <p:txBody>
          <a:bodyPr wrap="none" rtlCol="0">
            <a:spAutoFit/>
          </a:bodyPr>
          <a:lstStyle/>
          <a:p>
            <a:r>
              <a:rPr lang="en-GB" dirty="0"/>
              <a:t>budget</a:t>
            </a:r>
            <a:endParaRPr lang="en-DE" dirty="0"/>
          </a:p>
        </p:txBody>
      </p:sp>
      <p:sp>
        <p:nvSpPr>
          <p:cNvPr id="50" name="Oval 49">
            <a:extLst>
              <a:ext uri="{FF2B5EF4-FFF2-40B4-BE49-F238E27FC236}">
                <a16:creationId xmlns:a16="http://schemas.microsoft.com/office/drawing/2014/main" id="{64FDD082-E817-4DC3-8425-837CC98897DE}"/>
              </a:ext>
            </a:extLst>
          </p:cNvPr>
          <p:cNvSpPr/>
          <p:nvPr/>
        </p:nvSpPr>
        <p:spPr>
          <a:xfrm>
            <a:off x="7224733" y="3189625"/>
            <a:ext cx="69258" cy="7211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DE"/>
          </a:p>
        </p:txBody>
      </p:sp>
      <p:sp>
        <p:nvSpPr>
          <p:cNvPr id="44" name="Oval 43">
            <a:extLst>
              <a:ext uri="{FF2B5EF4-FFF2-40B4-BE49-F238E27FC236}">
                <a16:creationId xmlns:a16="http://schemas.microsoft.com/office/drawing/2014/main" id="{E8F1DFC3-B8E1-4662-A1BF-39DFF55B652C}"/>
              </a:ext>
            </a:extLst>
          </p:cNvPr>
          <p:cNvSpPr/>
          <p:nvPr/>
        </p:nvSpPr>
        <p:spPr>
          <a:xfrm>
            <a:off x="6959180" y="3189625"/>
            <a:ext cx="69258" cy="7211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DE"/>
          </a:p>
        </p:txBody>
      </p:sp>
      <p:sp>
        <p:nvSpPr>
          <p:cNvPr id="58" name="Oval 57">
            <a:extLst>
              <a:ext uri="{FF2B5EF4-FFF2-40B4-BE49-F238E27FC236}">
                <a16:creationId xmlns:a16="http://schemas.microsoft.com/office/drawing/2014/main" id="{ECEB0B73-74F3-47FA-A894-B752BB3072FD}"/>
              </a:ext>
            </a:extLst>
          </p:cNvPr>
          <p:cNvSpPr/>
          <p:nvPr/>
        </p:nvSpPr>
        <p:spPr>
          <a:xfrm>
            <a:off x="7498334" y="3189625"/>
            <a:ext cx="69258" cy="7211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DE"/>
          </a:p>
        </p:txBody>
      </p:sp>
      <p:sp>
        <p:nvSpPr>
          <p:cNvPr id="60" name="Oval 59">
            <a:extLst>
              <a:ext uri="{FF2B5EF4-FFF2-40B4-BE49-F238E27FC236}">
                <a16:creationId xmlns:a16="http://schemas.microsoft.com/office/drawing/2014/main" id="{87533E16-29F5-4F66-897F-93A3A5EB7819}"/>
              </a:ext>
            </a:extLst>
          </p:cNvPr>
          <p:cNvSpPr/>
          <p:nvPr/>
        </p:nvSpPr>
        <p:spPr>
          <a:xfrm>
            <a:off x="7224733" y="3464974"/>
            <a:ext cx="69258" cy="7211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DE"/>
          </a:p>
        </p:txBody>
      </p:sp>
      <p:sp>
        <p:nvSpPr>
          <p:cNvPr id="61" name="Oval 60">
            <a:extLst>
              <a:ext uri="{FF2B5EF4-FFF2-40B4-BE49-F238E27FC236}">
                <a16:creationId xmlns:a16="http://schemas.microsoft.com/office/drawing/2014/main" id="{BB994D0A-E841-4996-8115-74BFE4523B6D}"/>
              </a:ext>
            </a:extLst>
          </p:cNvPr>
          <p:cNvSpPr/>
          <p:nvPr/>
        </p:nvSpPr>
        <p:spPr>
          <a:xfrm>
            <a:off x="7224733" y="2926989"/>
            <a:ext cx="69258" cy="7211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DE"/>
          </a:p>
        </p:txBody>
      </p:sp>
      <p:cxnSp>
        <p:nvCxnSpPr>
          <p:cNvPr id="7" name="Straight Arrow Connector 6">
            <a:extLst>
              <a:ext uri="{FF2B5EF4-FFF2-40B4-BE49-F238E27FC236}">
                <a16:creationId xmlns:a16="http://schemas.microsoft.com/office/drawing/2014/main" id="{1CA441D5-984F-4F2B-B8A2-BC97BAAA4180}"/>
              </a:ext>
            </a:extLst>
          </p:cNvPr>
          <p:cNvCxnSpPr>
            <a:stCxn id="50" idx="0"/>
            <a:endCxn id="61" idx="4"/>
          </p:cNvCxnSpPr>
          <p:nvPr/>
        </p:nvCxnSpPr>
        <p:spPr>
          <a:xfrm flipV="1">
            <a:off x="7259362" y="2999100"/>
            <a:ext cx="0" cy="190525"/>
          </a:xfrm>
          <a:prstGeom prst="straightConnector1">
            <a:avLst/>
          </a:prstGeom>
          <a:ln>
            <a:prstDash val="sysDot"/>
            <a:tailEnd type="triangle"/>
          </a:ln>
        </p:spPr>
        <p:style>
          <a:lnRef idx="1">
            <a:schemeClr val="dk1"/>
          </a:lnRef>
          <a:fillRef idx="0">
            <a:schemeClr val="dk1"/>
          </a:fillRef>
          <a:effectRef idx="0">
            <a:schemeClr val="dk1"/>
          </a:effectRef>
          <a:fontRef idx="minor">
            <a:schemeClr val="tx1"/>
          </a:fontRef>
        </p:style>
      </p:cxnSp>
      <p:cxnSp>
        <p:nvCxnSpPr>
          <p:cNvPr id="62" name="Straight Arrow Connector 61">
            <a:extLst>
              <a:ext uri="{FF2B5EF4-FFF2-40B4-BE49-F238E27FC236}">
                <a16:creationId xmlns:a16="http://schemas.microsoft.com/office/drawing/2014/main" id="{3215E964-2CB2-4B42-85BB-C28AB2E4D6AC}"/>
              </a:ext>
            </a:extLst>
          </p:cNvPr>
          <p:cNvCxnSpPr>
            <a:cxnSpLocks/>
            <a:stCxn id="50" idx="6"/>
            <a:endCxn id="58" idx="2"/>
          </p:cNvCxnSpPr>
          <p:nvPr/>
        </p:nvCxnSpPr>
        <p:spPr>
          <a:xfrm>
            <a:off x="7293991" y="3225681"/>
            <a:ext cx="204343" cy="0"/>
          </a:xfrm>
          <a:prstGeom prst="straightConnector1">
            <a:avLst/>
          </a:prstGeom>
          <a:ln>
            <a:prstDash val="sysDot"/>
            <a:tailEnd type="triangle"/>
          </a:ln>
        </p:spPr>
        <p:style>
          <a:lnRef idx="1">
            <a:schemeClr val="dk1"/>
          </a:lnRef>
          <a:fillRef idx="0">
            <a:schemeClr val="dk1"/>
          </a:fillRef>
          <a:effectRef idx="0">
            <a:schemeClr val="dk1"/>
          </a:effectRef>
          <a:fontRef idx="minor">
            <a:schemeClr val="tx1"/>
          </a:fontRef>
        </p:style>
      </p:cxnSp>
      <p:cxnSp>
        <p:nvCxnSpPr>
          <p:cNvPr id="63" name="Straight Arrow Connector 62">
            <a:extLst>
              <a:ext uri="{FF2B5EF4-FFF2-40B4-BE49-F238E27FC236}">
                <a16:creationId xmlns:a16="http://schemas.microsoft.com/office/drawing/2014/main" id="{A549F5A6-D8AE-44B4-BEDE-B6E792941575}"/>
              </a:ext>
            </a:extLst>
          </p:cNvPr>
          <p:cNvCxnSpPr>
            <a:cxnSpLocks/>
            <a:stCxn id="50" idx="4"/>
            <a:endCxn id="60" idx="0"/>
          </p:cNvCxnSpPr>
          <p:nvPr/>
        </p:nvCxnSpPr>
        <p:spPr>
          <a:xfrm>
            <a:off x="7259362" y="3261736"/>
            <a:ext cx="0" cy="203238"/>
          </a:xfrm>
          <a:prstGeom prst="straightConnector1">
            <a:avLst/>
          </a:prstGeom>
          <a:ln>
            <a:prstDash val="sysDot"/>
            <a:tailEnd type="triangle"/>
          </a:ln>
        </p:spPr>
        <p:style>
          <a:lnRef idx="1">
            <a:schemeClr val="dk1"/>
          </a:lnRef>
          <a:fillRef idx="0">
            <a:schemeClr val="dk1"/>
          </a:fillRef>
          <a:effectRef idx="0">
            <a:schemeClr val="dk1"/>
          </a:effectRef>
          <a:fontRef idx="minor">
            <a:schemeClr val="tx1"/>
          </a:fontRef>
        </p:style>
      </p:cxnSp>
      <p:cxnSp>
        <p:nvCxnSpPr>
          <p:cNvPr id="64" name="Straight Arrow Connector 63">
            <a:extLst>
              <a:ext uri="{FF2B5EF4-FFF2-40B4-BE49-F238E27FC236}">
                <a16:creationId xmlns:a16="http://schemas.microsoft.com/office/drawing/2014/main" id="{118E5735-5738-4FC8-9C74-3F4F28E5073A}"/>
              </a:ext>
            </a:extLst>
          </p:cNvPr>
          <p:cNvCxnSpPr>
            <a:cxnSpLocks/>
            <a:stCxn id="50" idx="2"/>
            <a:endCxn id="44" idx="6"/>
          </p:cNvCxnSpPr>
          <p:nvPr/>
        </p:nvCxnSpPr>
        <p:spPr>
          <a:xfrm flipH="1">
            <a:off x="7028438" y="3225681"/>
            <a:ext cx="196295" cy="0"/>
          </a:xfrm>
          <a:prstGeom prst="straightConnector1">
            <a:avLst/>
          </a:prstGeom>
          <a:ln>
            <a:prstDash val="sysDot"/>
            <a:tailEnd type="triangle"/>
          </a:ln>
        </p:spPr>
        <p:style>
          <a:lnRef idx="1">
            <a:schemeClr val="dk1"/>
          </a:lnRef>
          <a:fillRef idx="0">
            <a:schemeClr val="dk1"/>
          </a:fillRef>
          <a:effectRef idx="0">
            <a:schemeClr val="dk1"/>
          </a:effectRef>
          <a:fontRef idx="minor">
            <a:schemeClr val="tx1"/>
          </a:fontRef>
        </p:style>
      </p:cxnSp>
      <p:sp>
        <p:nvSpPr>
          <p:cNvPr id="27" name="TextBox 26">
            <a:extLst>
              <a:ext uri="{FF2B5EF4-FFF2-40B4-BE49-F238E27FC236}">
                <a16:creationId xmlns:a16="http://schemas.microsoft.com/office/drawing/2014/main" id="{5EF5B824-80EA-4D71-A1EA-657A8F4AF9E7}"/>
              </a:ext>
            </a:extLst>
          </p:cNvPr>
          <p:cNvSpPr txBox="1"/>
          <p:nvPr/>
        </p:nvSpPr>
        <p:spPr>
          <a:xfrm>
            <a:off x="7006250" y="3072133"/>
            <a:ext cx="242374" cy="215444"/>
          </a:xfrm>
          <a:prstGeom prst="rect">
            <a:avLst/>
          </a:prstGeom>
          <a:noFill/>
        </p:spPr>
        <p:txBody>
          <a:bodyPr wrap="none" rtlCol="0">
            <a:spAutoFit/>
          </a:bodyPr>
          <a:lstStyle/>
          <a:p>
            <a:r>
              <a:rPr lang="en-GB" sz="800" dirty="0"/>
              <a:t>?</a:t>
            </a:r>
            <a:endParaRPr lang="en-DE" sz="800" dirty="0"/>
          </a:p>
        </p:txBody>
      </p:sp>
      <p:sp>
        <p:nvSpPr>
          <p:cNvPr id="65" name="TextBox 64">
            <a:extLst>
              <a:ext uri="{FF2B5EF4-FFF2-40B4-BE49-F238E27FC236}">
                <a16:creationId xmlns:a16="http://schemas.microsoft.com/office/drawing/2014/main" id="{8A0E69C2-8E11-4EDD-A279-437331F4BB51}"/>
              </a:ext>
            </a:extLst>
          </p:cNvPr>
          <p:cNvSpPr txBox="1"/>
          <p:nvPr/>
        </p:nvSpPr>
        <p:spPr>
          <a:xfrm>
            <a:off x="7096808" y="3222508"/>
            <a:ext cx="242374" cy="215444"/>
          </a:xfrm>
          <a:prstGeom prst="rect">
            <a:avLst/>
          </a:prstGeom>
          <a:noFill/>
        </p:spPr>
        <p:txBody>
          <a:bodyPr wrap="none" rtlCol="0">
            <a:spAutoFit/>
          </a:bodyPr>
          <a:lstStyle/>
          <a:p>
            <a:r>
              <a:rPr lang="en-GB" sz="800" dirty="0"/>
              <a:t>?</a:t>
            </a:r>
            <a:endParaRPr lang="en-DE" sz="800" dirty="0"/>
          </a:p>
        </p:txBody>
      </p:sp>
      <p:sp>
        <p:nvSpPr>
          <p:cNvPr id="66" name="TextBox 65">
            <a:extLst>
              <a:ext uri="{FF2B5EF4-FFF2-40B4-BE49-F238E27FC236}">
                <a16:creationId xmlns:a16="http://schemas.microsoft.com/office/drawing/2014/main" id="{5A7052AD-B780-49FA-B8E8-10DF93E4BEF3}"/>
              </a:ext>
            </a:extLst>
          </p:cNvPr>
          <p:cNvSpPr txBox="1"/>
          <p:nvPr/>
        </p:nvSpPr>
        <p:spPr>
          <a:xfrm>
            <a:off x="7182398" y="3018301"/>
            <a:ext cx="242374" cy="215444"/>
          </a:xfrm>
          <a:prstGeom prst="rect">
            <a:avLst/>
          </a:prstGeom>
          <a:noFill/>
        </p:spPr>
        <p:txBody>
          <a:bodyPr wrap="none" rtlCol="0">
            <a:spAutoFit/>
          </a:bodyPr>
          <a:lstStyle/>
          <a:p>
            <a:r>
              <a:rPr lang="en-GB" sz="800" dirty="0"/>
              <a:t>?</a:t>
            </a:r>
            <a:endParaRPr lang="en-DE" sz="800" dirty="0"/>
          </a:p>
        </p:txBody>
      </p:sp>
      <p:sp>
        <p:nvSpPr>
          <p:cNvPr id="67" name="TextBox 66">
            <a:extLst>
              <a:ext uri="{FF2B5EF4-FFF2-40B4-BE49-F238E27FC236}">
                <a16:creationId xmlns:a16="http://schemas.microsoft.com/office/drawing/2014/main" id="{363F1A63-0A61-47B2-873B-B60094D6B12B}"/>
              </a:ext>
            </a:extLst>
          </p:cNvPr>
          <p:cNvSpPr txBox="1"/>
          <p:nvPr/>
        </p:nvSpPr>
        <p:spPr>
          <a:xfrm>
            <a:off x="7267988" y="3176497"/>
            <a:ext cx="242374" cy="215444"/>
          </a:xfrm>
          <a:prstGeom prst="rect">
            <a:avLst/>
          </a:prstGeom>
          <a:noFill/>
        </p:spPr>
        <p:txBody>
          <a:bodyPr wrap="none" rtlCol="0">
            <a:spAutoFit/>
          </a:bodyPr>
          <a:lstStyle/>
          <a:p>
            <a:r>
              <a:rPr lang="en-GB" sz="800" dirty="0"/>
              <a:t>?</a:t>
            </a:r>
            <a:endParaRPr lang="en-DE" sz="800" dirty="0"/>
          </a:p>
        </p:txBody>
      </p:sp>
    </p:spTree>
    <p:extLst>
      <p:ext uri="{BB962C8B-B14F-4D97-AF65-F5344CB8AC3E}">
        <p14:creationId xmlns:p14="http://schemas.microsoft.com/office/powerpoint/2010/main" val="3327614339"/>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383</Words>
  <Application>Microsoft Office PowerPoint</Application>
  <PresentationFormat>Bildschirmpräsentation (16:9)</PresentationFormat>
  <Paragraphs>38</Paragraphs>
  <Slides>3</Slides>
  <Notes>3</Notes>
  <HiddenSlides>0</HiddenSlides>
  <MMClips>0</MMClips>
  <ScaleCrop>false</ScaleCrop>
  <HeadingPairs>
    <vt:vector size="6" baseType="variant">
      <vt:variant>
        <vt:lpstr>Verwendete Schriftarten</vt:lpstr>
      </vt:variant>
      <vt:variant>
        <vt:i4>1</vt:i4>
      </vt:variant>
      <vt:variant>
        <vt:lpstr>Design</vt:lpstr>
      </vt:variant>
      <vt:variant>
        <vt:i4>1</vt:i4>
      </vt:variant>
      <vt:variant>
        <vt:lpstr>Folientitel</vt:lpstr>
      </vt:variant>
      <vt:variant>
        <vt:i4>3</vt:i4>
      </vt:variant>
    </vt:vector>
  </HeadingPairs>
  <TitlesOfParts>
    <vt:vector size="5" baseType="lpstr">
      <vt:lpstr>Arial</vt:lpstr>
      <vt:lpstr>Simple Light</vt:lpstr>
      <vt:lpstr>Hill Climbing</vt:lpstr>
      <vt:lpstr>At a Glance</vt:lpstr>
      <vt:lpstr>The Algorithm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Guild</dc:title>
  <dc:creator>frank</dc:creator>
  <cp:lastModifiedBy>Frank Trollmann</cp:lastModifiedBy>
  <cp:revision>163</cp:revision>
  <dcterms:modified xsi:type="dcterms:W3CDTF">2024-11-25T13:25:03Z</dcterms:modified>
</cp:coreProperties>
</file>